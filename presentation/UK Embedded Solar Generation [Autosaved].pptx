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2" r:id="rId4"/>
  </p:sldMasterIdLst>
  <p:notesMasterIdLst>
    <p:notesMasterId r:id="rId21"/>
  </p:notesMasterIdLst>
  <p:handoutMasterIdLst>
    <p:handoutMasterId r:id="rId22"/>
  </p:handoutMasterIdLst>
  <p:sldIdLst>
    <p:sldId id="256" r:id="rId5"/>
    <p:sldId id="262" r:id="rId6"/>
    <p:sldId id="258" r:id="rId7"/>
    <p:sldId id="265" r:id="rId8"/>
    <p:sldId id="263" r:id="rId9"/>
    <p:sldId id="270" r:id="rId10"/>
    <p:sldId id="271" r:id="rId11"/>
    <p:sldId id="264" r:id="rId12"/>
    <p:sldId id="266" r:id="rId13"/>
    <p:sldId id="259" r:id="rId14"/>
    <p:sldId id="261" r:id="rId15"/>
    <p:sldId id="267" r:id="rId16"/>
    <p:sldId id="268" r:id="rId17"/>
    <p:sldId id="269" r:id="rId18"/>
    <p:sldId id="272" r:id="rId19"/>
    <p:sldId id="26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7" autoAdjust="0"/>
    <p:restoredTop sz="94648" autoAdjust="0"/>
  </p:normalViewPr>
  <p:slideViewPr>
    <p:cSldViewPr snapToGrid="0">
      <p:cViewPr varScale="1">
        <p:scale>
          <a:sx n="65" d="100"/>
          <a:sy n="65" d="100"/>
        </p:scale>
        <p:origin x="1236" y="28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diagrams/_rels/data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776A7D-7756-4958-8B03-F3C7AFEB5CCD}" type="doc">
      <dgm:prSet loTypeId="urn:microsoft.com/office/officeart/2005/8/layout/radial1" loCatId="relationship" qsTypeId="urn:microsoft.com/office/officeart/2005/8/quickstyle/simple4" qsCatId="simple" csTypeId="urn:microsoft.com/office/officeart/2005/8/colors/colorful5" csCatId="colorful" phldr="1"/>
      <dgm:spPr/>
      <dgm:t>
        <a:bodyPr/>
        <a:lstStyle/>
        <a:p>
          <a:endParaRPr lang="en-GB"/>
        </a:p>
      </dgm:t>
    </dgm:pt>
    <dgm:pt modelId="{C7CD05D0-3BB8-4B3B-A230-D23D45A4CBA0}">
      <dgm:prSet phldrT="[Text]" custT="1"/>
      <dgm:spPr>
        <a:solidFill>
          <a:schemeClr val="bg1"/>
        </a:solidFill>
      </dgm:spPr>
      <dgm:t>
        <a:bodyPr/>
        <a:lstStyle/>
        <a:p>
          <a:r>
            <a:rPr lang="en-GB" sz="2800" dirty="0"/>
            <a:t>289 GSP </a:t>
          </a:r>
          <a:r>
            <a:rPr lang="en-GB" sz="1800" dirty="0"/>
            <a:t>locations</a:t>
          </a:r>
        </a:p>
      </dgm:t>
    </dgm:pt>
    <dgm:pt modelId="{73837F47-B7FE-4BB7-8485-76D42D0ACA1B}" type="parTrans" cxnId="{FFC1F31A-2325-40F1-BBB0-7BE973BCFD39}">
      <dgm:prSet/>
      <dgm:spPr/>
      <dgm:t>
        <a:bodyPr/>
        <a:lstStyle/>
        <a:p>
          <a:endParaRPr lang="en-GB"/>
        </a:p>
      </dgm:t>
    </dgm:pt>
    <dgm:pt modelId="{BD6D85B9-6F9B-42F5-B407-90732A1E7D22}" type="sibTrans" cxnId="{FFC1F31A-2325-40F1-BBB0-7BE973BCFD39}">
      <dgm:prSet/>
      <dgm:spPr/>
      <dgm:t>
        <a:bodyPr/>
        <a:lstStyle/>
        <a:p>
          <a:endParaRPr lang="en-GB"/>
        </a:p>
      </dgm:t>
    </dgm:pt>
    <dgm:pt modelId="{DF5CD2BA-A952-4893-8DFF-4A7CF4F255C1}">
      <dgm:prSet phldrT="[Text]" custT="1"/>
      <dgm:spPr>
        <a:solidFill>
          <a:srgbClr val="00B050"/>
        </a:solidFill>
      </dgm:spPr>
      <dgm:t>
        <a:bodyPr/>
        <a:lstStyle/>
        <a:p>
          <a:r>
            <a:rPr lang="en-GB" sz="2400" dirty="0"/>
            <a:t>2 APIs</a:t>
          </a:r>
        </a:p>
        <a:p>
          <a:r>
            <a:rPr lang="en-GB" sz="1300" dirty="0"/>
            <a:t>(solar and weather)</a:t>
          </a:r>
        </a:p>
      </dgm:t>
    </dgm:pt>
    <dgm:pt modelId="{A34A8A1E-C39E-4CFE-909C-93F6C6414035}" type="parTrans" cxnId="{E664E519-D84C-4382-B095-7E7FA798E50B}">
      <dgm:prSet/>
      <dgm:spPr/>
      <dgm:t>
        <a:bodyPr/>
        <a:lstStyle/>
        <a:p>
          <a:endParaRPr lang="en-GB"/>
        </a:p>
      </dgm:t>
    </dgm:pt>
    <dgm:pt modelId="{3AD77495-BF15-431C-83A8-92111CBE4D0E}" type="sibTrans" cxnId="{E664E519-D84C-4382-B095-7E7FA798E50B}">
      <dgm:prSet/>
      <dgm:spPr/>
      <dgm:t>
        <a:bodyPr/>
        <a:lstStyle/>
        <a:p>
          <a:endParaRPr lang="en-GB"/>
        </a:p>
      </dgm:t>
    </dgm:pt>
    <dgm:pt modelId="{018604F0-E873-4394-95CD-F5202F5B911D}">
      <dgm:prSet phldrT="[Text]" custT="1"/>
      <dgm:spPr>
        <a:solidFill>
          <a:srgbClr val="FFC000"/>
        </a:solidFill>
      </dgm:spPr>
      <dgm:t>
        <a:bodyPr/>
        <a:lstStyle/>
        <a:p>
          <a:pPr>
            <a:lnSpc>
              <a:spcPct val="100000"/>
            </a:lnSpc>
            <a:spcAft>
              <a:spcPts val="0"/>
            </a:spcAft>
          </a:pPr>
          <a:r>
            <a:rPr lang="en-GB" sz="2800" dirty="0"/>
            <a:t>5 years </a:t>
          </a:r>
        </a:p>
        <a:p>
          <a:pPr>
            <a:lnSpc>
              <a:spcPct val="100000"/>
            </a:lnSpc>
            <a:spcAft>
              <a:spcPts val="0"/>
            </a:spcAft>
          </a:pPr>
          <a:r>
            <a:rPr lang="en-GB" sz="1300" dirty="0"/>
            <a:t>hourly historical data</a:t>
          </a:r>
        </a:p>
      </dgm:t>
    </dgm:pt>
    <dgm:pt modelId="{699B72A0-1D4D-4084-91B8-268880BC4201}" type="parTrans" cxnId="{2FCA9F0C-550A-4D26-AAAB-5A62EA5E3032}">
      <dgm:prSet/>
      <dgm:spPr/>
      <dgm:t>
        <a:bodyPr/>
        <a:lstStyle/>
        <a:p>
          <a:endParaRPr lang="en-GB"/>
        </a:p>
      </dgm:t>
    </dgm:pt>
    <dgm:pt modelId="{780CCE45-CF0A-4AAF-84D4-6163F11DCA49}" type="sibTrans" cxnId="{2FCA9F0C-550A-4D26-AAAB-5A62EA5E3032}">
      <dgm:prSet/>
      <dgm:spPr/>
      <dgm:t>
        <a:bodyPr/>
        <a:lstStyle/>
        <a:p>
          <a:endParaRPr lang="en-GB"/>
        </a:p>
      </dgm:t>
    </dgm:pt>
    <dgm:pt modelId="{4D3730F1-B3AF-4A59-A831-D307D9F73156}">
      <dgm:prSet phldrT="[Text]" custT="1"/>
      <dgm:spPr>
        <a:solidFill>
          <a:schemeClr val="accent2">
            <a:lumMod val="75000"/>
          </a:schemeClr>
        </a:solidFill>
      </dgm:spPr>
      <dgm:t>
        <a:bodyPr/>
        <a:lstStyle/>
        <a:p>
          <a:r>
            <a:rPr lang="en-GB" sz="2400" dirty="0"/>
            <a:t>5 ML </a:t>
          </a:r>
          <a:r>
            <a:rPr lang="en-GB" sz="1300" dirty="0"/>
            <a:t>algorithms</a:t>
          </a:r>
        </a:p>
        <a:p>
          <a:r>
            <a:rPr lang="en-GB" sz="1300" dirty="0"/>
            <a:t>trained and tested</a:t>
          </a:r>
        </a:p>
      </dgm:t>
    </dgm:pt>
    <dgm:pt modelId="{16B84035-3D5F-443A-9774-FF7F09F8ECD2}" type="parTrans" cxnId="{1C2645D6-C293-4B57-9AB9-305AA0992047}">
      <dgm:prSet/>
      <dgm:spPr/>
      <dgm:t>
        <a:bodyPr/>
        <a:lstStyle/>
        <a:p>
          <a:endParaRPr lang="en-GB"/>
        </a:p>
      </dgm:t>
    </dgm:pt>
    <dgm:pt modelId="{576F139C-1AC5-440D-9621-C1B6EA92E230}" type="sibTrans" cxnId="{1C2645D6-C293-4B57-9AB9-305AA0992047}">
      <dgm:prSet/>
      <dgm:spPr/>
      <dgm:t>
        <a:bodyPr/>
        <a:lstStyle/>
        <a:p>
          <a:endParaRPr lang="en-GB"/>
        </a:p>
      </dgm:t>
    </dgm:pt>
    <dgm:pt modelId="{2FA4B742-EB12-4782-A9A7-DED8C84C9E4C}">
      <dgm:prSet phldrT="[Text]" custT="1"/>
      <dgm:spPr>
        <a:solidFill>
          <a:srgbClr val="002060"/>
        </a:solidFill>
      </dgm:spPr>
      <dgm:t>
        <a:bodyPr/>
        <a:lstStyle/>
        <a:p>
          <a:r>
            <a:rPr lang="en-GB" sz="2800" dirty="0"/>
            <a:t>6GW </a:t>
          </a:r>
          <a:r>
            <a:rPr lang="en-GB" sz="1300" dirty="0"/>
            <a:t>Solar capacity</a:t>
          </a:r>
        </a:p>
      </dgm:t>
    </dgm:pt>
    <dgm:pt modelId="{2703DC60-FBA4-4D34-A3E1-EEEF39407B60}" type="parTrans" cxnId="{E2649ADA-1F04-4C2A-AADD-20CC0DFAAA57}">
      <dgm:prSet/>
      <dgm:spPr/>
      <dgm:t>
        <a:bodyPr/>
        <a:lstStyle/>
        <a:p>
          <a:endParaRPr lang="en-GB"/>
        </a:p>
      </dgm:t>
    </dgm:pt>
    <dgm:pt modelId="{F1B25D4D-FCF4-472E-B60B-3B30D01C520D}" type="sibTrans" cxnId="{E2649ADA-1F04-4C2A-AADD-20CC0DFAAA57}">
      <dgm:prSet/>
      <dgm:spPr/>
      <dgm:t>
        <a:bodyPr/>
        <a:lstStyle/>
        <a:p>
          <a:endParaRPr lang="en-GB"/>
        </a:p>
      </dgm:t>
    </dgm:pt>
    <dgm:pt modelId="{26C971C0-A439-4268-8AE6-7B6A8D08367C}" type="pres">
      <dgm:prSet presAssocID="{84776A7D-7756-4958-8B03-F3C7AFEB5CCD}" presName="cycle" presStyleCnt="0">
        <dgm:presLayoutVars>
          <dgm:chMax val="1"/>
          <dgm:dir/>
          <dgm:animLvl val="ctr"/>
          <dgm:resizeHandles val="exact"/>
        </dgm:presLayoutVars>
      </dgm:prSet>
      <dgm:spPr/>
    </dgm:pt>
    <dgm:pt modelId="{1356BF93-8FE7-48D8-B64A-8F24AC91E911}" type="pres">
      <dgm:prSet presAssocID="{C7CD05D0-3BB8-4B3B-A230-D23D45A4CBA0}" presName="centerShape" presStyleLbl="node0" presStyleIdx="0" presStyleCnt="1" custScaleX="122259" custScaleY="125518"/>
      <dgm:spPr/>
    </dgm:pt>
    <dgm:pt modelId="{13E9DB14-918D-41C4-BDF0-04C4392351C6}" type="pres">
      <dgm:prSet presAssocID="{A34A8A1E-C39E-4CFE-909C-93F6C6414035}" presName="Name9" presStyleLbl="parChTrans1D2" presStyleIdx="0" presStyleCnt="4"/>
      <dgm:spPr/>
    </dgm:pt>
    <dgm:pt modelId="{76E2E31A-74DC-4D8B-9649-DA29B73D8A58}" type="pres">
      <dgm:prSet presAssocID="{A34A8A1E-C39E-4CFE-909C-93F6C6414035}" presName="connTx" presStyleLbl="parChTrans1D2" presStyleIdx="0" presStyleCnt="4"/>
      <dgm:spPr/>
    </dgm:pt>
    <dgm:pt modelId="{A309BCFE-D9E8-410E-A834-3DA9340F0E08}" type="pres">
      <dgm:prSet presAssocID="{DF5CD2BA-A952-4893-8DFF-4A7CF4F255C1}" presName="node" presStyleLbl="node1" presStyleIdx="0" presStyleCnt="4" custScaleX="120374" custScaleY="125903">
        <dgm:presLayoutVars>
          <dgm:bulletEnabled val="1"/>
        </dgm:presLayoutVars>
      </dgm:prSet>
      <dgm:spPr/>
    </dgm:pt>
    <dgm:pt modelId="{6D38D856-917A-4711-B4B5-E851A509C753}" type="pres">
      <dgm:prSet presAssocID="{699B72A0-1D4D-4084-91B8-268880BC4201}" presName="Name9" presStyleLbl="parChTrans1D2" presStyleIdx="1" presStyleCnt="4"/>
      <dgm:spPr/>
    </dgm:pt>
    <dgm:pt modelId="{14BB5905-C3E5-46AD-B760-0432F48E48FA}" type="pres">
      <dgm:prSet presAssocID="{699B72A0-1D4D-4084-91B8-268880BC4201}" presName="connTx" presStyleLbl="parChTrans1D2" presStyleIdx="1" presStyleCnt="4"/>
      <dgm:spPr/>
    </dgm:pt>
    <dgm:pt modelId="{0BD56CC0-2251-48F8-A698-8A20B372F487}" type="pres">
      <dgm:prSet presAssocID="{018604F0-E873-4394-95CD-F5202F5B911D}" presName="node" presStyleLbl="node1" presStyleIdx="1" presStyleCnt="4" custScaleX="124982" custScaleY="126694">
        <dgm:presLayoutVars>
          <dgm:bulletEnabled val="1"/>
        </dgm:presLayoutVars>
      </dgm:prSet>
      <dgm:spPr/>
    </dgm:pt>
    <dgm:pt modelId="{9D393006-ED98-48FA-9FD9-B3085BD36790}" type="pres">
      <dgm:prSet presAssocID="{16B84035-3D5F-443A-9774-FF7F09F8ECD2}" presName="Name9" presStyleLbl="parChTrans1D2" presStyleIdx="2" presStyleCnt="4"/>
      <dgm:spPr/>
    </dgm:pt>
    <dgm:pt modelId="{727D44CD-FC08-4611-A01D-BEFC94DD0D82}" type="pres">
      <dgm:prSet presAssocID="{16B84035-3D5F-443A-9774-FF7F09F8ECD2}" presName="connTx" presStyleLbl="parChTrans1D2" presStyleIdx="2" presStyleCnt="4"/>
      <dgm:spPr/>
    </dgm:pt>
    <dgm:pt modelId="{41A4E4A7-F1B1-4961-B3E4-16E3910F1F20}" type="pres">
      <dgm:prSet presAssocID="{4D3730F1-B3AF-4A59-A831-D307D9F73156}" presName="node" presStyleLbl="node1" presStyleIdx="2" presStyleCnt="4" custScaleX="129458" custScaleY="127840" custRadScaleRad="101619" custRadScaleInc="-1815">
        <dgm:presLayoutVars>
          <dgm:bulletEnabled val="1"/>
        </dgm:presLayoutVars>
      </dgm:prSet>
      <dgm:spPr/>
    </dgm:pt>
    <dgm:pt modelId="{3237B996-EE98-4BBB-855D-D8F16A52945B}" type="pres">
      <dgm:prSet presAssocID="{2703DC60-FBA4-4D34-A3E1-EEEF39407B60}" presName="Name9" presStyleLbl="parChTrans1D2" presStyleIdx="3" presStyleCnt="4"/>
      <dgm:spPr/>
    </dgm:pt>
    <dgm:pt modelId="{633BDE25-C6E5-42DA-AC25-BD14F1F4C76F}" type="pres">
      <dgm:prSet presAssocID="{2703DC60-FBA4-4D34-A3E1-EEEF39407B60}" presName="connTx" presStyleLbl="parChTrans1D2" presStyleIdx="3" presStyleCnt="4"/>
      <dgm:spPr/>
    </dgm:pt>
    <dgm:pt modelId="{16279E2B-23A1-45E7-ACF3-4066396A4FE7}" type="pres">
      <dgm:prSet presAssocID="{2FA4B742-EB12-4782-A9A7-DED8C84C9E4C}" presName="node" presStyleLbl="node1" presStyleIdx="3" presStyleCnt="4" custScaleX="121892" custScaleY="129287">
        <dgm:presLayoutVars>
          <dgm:bulletEnabled val="1"/>
        </dgm:presLayoutVars>
      </dgm:prSet>
      <dgm:spPr/>
    </dgm:pt>
  </dgm:ptLst>
  <dgm:cxnLst>
    <dgm:cxn modelId="{2FCA9F0C-550A-4D26-AAAB-5A62EA5E3032}" srcId="{C7CD05D0-3BB8-4B3B-A230-D23D45A4CBA0}" destId="{018604F0-E873-4394-95CD-F5202F5B911D}" srcOrd="1" destOrd="0" parTransId="{699B72A0-1D4D-4084-91B8-268880BC4201}" sibTransId="{780CCE45-CF0A-4AAF-84D4-6163F11DCA49}"/>
    <dgm:cxn modelId="{E2375211-ED6A-4065-9551-790066FA4F87}" type="presOf" srcId="{A34A8A1E-C39E-4CFE-909C-93F6C6414035}" destId="{76E2E31A-74DC-4D8B-9649-DA29B73D8A58}" srcOrd="1" destOrd="0" presId="urn:microsoft.com/office/officeart/2005/8/layout/radial1"/>
    <dgm:cxn modelId="{34471612-7C9C-41BE-8B51-AF5FC2953913}" type="presOf" srcId="{84776A7D-7756-4958-8B03-F3C7AFEB5CCD}" destId="{26C971C0-A439-4268-8AE6-7B6A8D08367C}" srcOrd="0" destOrd="0" presId="urn:microsoft.com/office/officeart/2005/8/layout/radial1"/>
    <dgm:cxn modelId="{6F0C2F19-31A0-40E5-B7D0-09DD76C22A44}" type="presOf" srcId="{2FA4B742-EB12-4782-A9A7-DED8C84C9E4C}" destId="{16279E2B-23A1-45E7-ACF3-4066396A4FE7}" srcOrd="0" destOrd="0" presId="urn:microsoft.com/office/officeart/2005/8/layout/radial1"/>
    <dgm:cxn modelId="{E664E519-D84C-4382-B095-7E7FA798E50B}" srcId="{C7CD05D0-3BB8-4B3B-A230-D23D45A4CBA0}" destId="{DF5CD2BA-A952-4893-8DFF-4A7CF4F255C1}" srcOrd="0" destOrd="0" parTransId="{A34A8A1E-C39E-4CFE-909C-93F6C6414035}" sibTransId="{3AD77495-BF15-431C-83A8-92111CBE4D0E}"/>
    <dgm:cxn modelId="{FFC1F31A-2325-40F1-BBB0-7BE973BCFD39}" srcId="{84776A7D-7756-4958-8B03-F3C7AFEB5CCD}" destId="{C7CD05D0-3BB8-4B3B-A230-D23D45A4CBA0}" srcOrd="0" destOrd="0" parTransId="{73837F47-B7FE-4BB7-8485-76D42D0ACA1B}" sibTransId="{BD6D85B9-6F9B-42F5-B407-90732A1E7D22}"/>
    <dgm:cxn modelId="{24F56532-AF8E-48E9-8E1C-F45E80B14D80}" type="presOf" srcId="{DF5CD2BA-A952-4893-8DFF-4A7CF4F255C1}" destId="{A309BCFE-D9E8-410E-A834-3DA9340F0E08}" srcOrd="0" destOrd="0" presId="urn:microsoft.com/office/officeart/2005/8/layout/radial1"/>
    <dgm:cxn modelId="{C6B5A439-D270-4BDE-87B0-B994AC06DC0D}" type="presOf" srcId="{699B72A0-1D4D-4084-91B8-268880BC4201}" destId="{14BB5905-C3E5-46AD-B760-0432F48E48FA}" srcOrd="1" destOrd="0" presId="urn:microsoft.com/office/officeart/2005/8/layout/radial1"/>
    <dgm:cxn modelId="{24CF893A-2DF7-4442-91B6-F4CC5D9D7BA8}" type="presOf" srcId="{2703DC60-FBA4-4D34-A3E1-EEEF39407B60}" destId="{3237B996-EE98-4BBB-855D-D8F16A52945B}" srcOrd="0" destOrd="0" presId="urn:microsoft.com/office/officeart/2005/8/layout/radial1"/>
    <dgm:cxn modelId="{2C46B03A-951F-47EB-B375-20B825C46A04}" type="presOf" srcId="{2703DC60-FBA4-4D34-A3E1-EEEF39407B60}" destId="{633BDE25-C6E5-42DA-AC25-BD14F1F4C76F}" srcOrd="1" destOrd="0" presId="urn:microsoft.com/office/officeart/2005/8/layout/radial1"/>
    <dgm:cxn modelId="{B518155B-6F68-4AF1-A83F-E6DD830A1388}" type="presOf" srcId="{16B84035-3D5F-443A-9774-FF7F09F8ECD2}" destId="{9D393006-ED98-48FA-9FD9-B3085BD36790}" srcOrd="0" destOrd="0" presId="urn:microsoft.com/office/officeart/2005/8/layout/radial1"/>
    <dgm:cxn modelId="{B04BA947-B545-4404-BBF7-0726B1340A51}" type="presOf" srcId="{A34A8A1E-C39E-4CFE-909C-93F6C6414035}" destId="{13E9DB14-918D-41C4-BDF0-04C4392351C6}" srcOrd="0" destOrd="0" presId="urn:microsoft.com/office/officeart/2005/8/layout/radial1"/>
    <dgm:cxn modelId="{BD3DAB50-F285-4AD3-BCEB-259095C15D3F}" type="presOf" srcId="{16B84035-3D5F-443A-9774-FF7F09F8ECD2}" destId="{727D44CD-FC08-4611-A01D-BEFC94DD0D82}" srcOrd="1" destOrd="0" presId="urn:microsoft.com/office/officeart/2005/8/layout/radial1"/>
    <dgm:cxn modelId="{0F37D857-1F84-42F5-9C7F-1140777FE738}" type="presOf" srcId="{018604F0-E873-4394-95CD-F5202F5B911D}" destId="{0BD56CC0-2251-48F8-A698-8A20B372F487}" srcOrd="0" destOrd="0" presId="urn:microsoft.com/office/officeart/2005/8/layout/radial1"/>
    <dgm:cxn modelId="{8ED3F899-BF01-4694-A337-51D2A3E5DF79}" type="presOf" srcId="{C7CD05D0-3BB8-4B3B-A230-D23D45A4CBA0}" destId="{1356BF93-8FE7-48D8-B64A-8F24AC91E911}" srcOrd="0" destOrd="0" presId="urn:microsoft.com/office/officeart/2005/8/layout/radial1"/>
    <dgm:cxn modelId="{80E570A1-B811-429B-89D1-F5CBF8486FB7}" type="presOf" srcId="{4D3730F1-B3AF-4A59-A831-D307D9F73156}" destId="{41A4E4A7-F1B1-4961-B3E4-16E3910F1F20}" srcOrd="0" destOrd="0" presId="urn:microsoft.com/office/officeart/2005/8/layout/radial1"/>
    <dgm:cxn modelId="{1C2645D6-C293-4B57-9AB9-305AA0992047}" srcId="{C7CD05D0-3BB8-4B3B-A230-D23D45A4CBA0}" destId="{4D3730F1-B3AF-4A59-A831-D307D9F73156}" srcOrd="2" destOrd="0" parTransId="{16B84035-3D5F-443A-9774-FF7F09F8ECD2}" sibTransId="{576F139C-1AC5-440D-9621-C1B6EA92E230}"/>
    <dgm:cxn modelId="{E2649ADA-1F04-4C2A-AADD-20CC0DFAAA57}" srcId="{C7CD05D0-3BB8-4B3B-A230-D23D45A4CBA0}" destId="{2FA4B742-EB12-4782-A9A7-DED8C84C9E4C}" srcOrd="3" destOrd="0" parTransId="{2703DC60-FBA4-4D34-A3E1-EEEF39407B60}" sibTransId="{F1B25D4D-FCF4-472E-B60B-3B30D01C520D}"/>
    <dgm:cxn modelId="{412DF9E2-763C-4CD4-A8A8-06080585E94B}" type="presOf" srcId="{699B72A0-1D4D-4084-91B8-268880BC4201}" destId="{6D38D856-917A-4711-B4B5-E851A509C753}" srcOrd="0" destOrd="0" presId="urn:microsoft.com/office/officeart/2005/8/layout/radial1"/>
    <dgm:cxn modelId="{AD3CA90E-D991-457A-B61F-B5058F623B1A}" type="presParOf" srcId="{26C971C0-A439-4268-8AE6-7B6A8D08367C}" destId="{1356BF93-8FE7-48D8-B64A-8F24AC91E911}" srcOrd="0" destOrd="0" presId="urn:microsoft.com/office/officeart/2005/8/layout/radial1"/>
    <dgm:cxn modelId="{4F547F63-DB5A-436A-BC5F-09072F7F94A3}" type="presParOf" srcId="{26C971C0-A439-4268-8AE6-7B6A8D08367C}" destId="{13E9DB14-918D-41C4-BDF0-04C4392351C6}" srcOrd="1" destOrd="0" presId="urn:microsoft.com/office/officeart/2005/8/layout/radial1"/>
    <dgm:cxn modelId="{696F6EDA-5D39-4EC6-AAEA-993C4C215BF5}" type="presParOf" srcId="{13E9DB14-918D-41C4-BDF0-04C4392351C6}" destId="{76E2E31A-74DC-4D8B-9649-DA29B73D8A58}" srcOrd="0" destOrd="0" presId="urn:microsoft.com/office/officeart/2005/8/layout/radial1"/>
    <dgm:cxn modelId="{5ED5B7A4-A0BA-4401-B6F3-F76FB2C59766}" type="presParOf" srcId="{26C971C0-A439-4268-8AE6-7B6A8D08367C}" destId="{A309BCFE-D9E8-410E-A834-3DA9340F0E08}" srcOrd="2" destOrd="0" presId="urn:microsoft.com/office/officeart/2005/8/layout/radial1"/>
    <dgm:cxn modelId="{9341592B-A147-4BFE-8661-A039EF053A02}" type="presParOf" srcId="{26C971C0-A439-4268-8AE6-7B6A8D08367C}" destId="{6D38D856-917A-4711-B4B5-E851A509C753}" srcOrd="3" destOrd="0" presId="urn:microsoft.com/office/officeart/2005/8/layout/radial1"/>
    <dgm:cxn modelId="{994189B9-6629-4AA0-ABA4-516012BB6C78}" type="presParOf" srcId="{6D38D856-917A-4711-B4B5-E851A509C753}" destId="{14BB5905-C3E5-46AD-B760-0432F48E48FA}" srcOrd="0" destOrd="0" presId="urn:microsoft.com/office/officeart/2005/8/layout/radial1"/>
    <dgm:cxn modelId="{C03C1141-5B5A-429C-93C4-3DEE29CFE187}" type="presParOf" srcId="{26C971C0-A439-4268-8AE6-7B6A8D08367C}" destId="{0BD56CC0-2251-48F8-A698-8A20B372F487}" srcOrd="4" destOrd="0" presId="urn:microsoft.com/office/officeart/2005/8/layout/radial1"/>
    <dgm:cxn modelId="{4EC596BB-97B2-4D35-823F-FDB4EA3DFBAD}" type="presParOf" srcId="{26C971C0-A439-4268-8AE6-7B6A8D08367C}" destId="{9D393006-ED98-48FA-9FD9-B3085BD36790}" srcOrd="5" destOrd="0" presId="urn:microsoft.com/office/officeart/2005/8/layout/radial1"/>
    <dgm:cxn modelId="{5A583A38-5FF4-496C-9DCD-1CBCC9177913}" type="presParOf" srcId="{9D393006-ED98-48FA-9FD9-B3085BD36790}" destId="{727D44CD-FC08-4611-A01D-BEFC94DD0D82}" srcOrd="0" destOrd="0" presId="urn:microsoft.com/office/officeart/2005/8/layout/radial1"/>
    <dgm:cxn modelId="{7AEF75DF-17B6-4B3D-A9E7-A856DF245F0B}" type="presParOf" srcId="{26C971C0-A439-4268-8AE6-7B6A8D08367C}" destId="{41A4E4A7-F1B1-4961-B3E4-16E3910F1F20}" srcOrd="6" destOrd="0" presId="urn:microsoft.com/office/officeart/2005/8/layout/radial1"/>
    <dgm:cxn modelId="{B3F2F492-D04F-4782-B693-336C18A65B58}" type="presParOf" srcId="{26C971C0-A439-4268-8AE6-7B6A8D08367C}" destId="{3237B996-EE98-4BBB-855D-D8F16A52945B}" srcOrd="7" destOrd="0" presId="urn:microsoft.com/office/officeart/2005/8/layout/radial1"/>
    <dgm:cxn modelId="{E4126766-FBA9-41B7-8320-A9BB8D14C33E}" type="presParOf" srcId="{3237B996-EE98-4BBB-855D-D8F16A52945B}" destId="{633BDE25-C6E5-42DA-AC25-BD14F1F4C76F}" srcOrd="0" destOrd="0" presId="urn:microsoft.com/office/officeart/2005/8/layout/radial1"/>
    <dgm:cxn modelId="{E9EE59EB-521B-49D8-8301-460C5DD3C2F7}" type="presParOf" srcId="{26C971C0-A439-4268-8AE6-7B6A8D08367C}" destId="{16279E2B-23A1-45E7-ACF3-4066396A4FE7}" srcOrd="8" destOrd="0" presId="urn:microsoft.com/office/officeart/2005/8/layout/radial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9C16A6-8C48-4165-8DAF-8C957C12A8FA}" type="doc">
      <dgm:prSet loTypeId="urn:microsoft.com/office/officeart/2018/2/layout/IconLabelList" loCatId="icon" qsTypeId="urn:microsoft.com/office/officeart/2005/8/quickstyle/simple1" qsCatId="simple" csTypeId="urn:microsoft.com/office/officeart/2018/5/colors/Iconchunking_neutralbg_accent2_2" csCatId="accent2" phldr="1"/>
      <dgm:spPr/>
      <dgm:t>
        <a:bodyPr/>
        <a:lstStyle/>
        <a:p>
          <a:endParaRPr lang="en-GB"/>
        </a:p>
      </dgm:t>
    </dgm:pt>
    <dgm:pt modelId="{701D68F5-42F8-47BC-8FED-84C50F595DF0}">
      <dgm:prSet phldrT="[Text]"/>
      <dgm:spPr/>
      <dgm:t>
        <a:bodyPr/>
        <a:lstStyle/>
        <a:p>
          <a:r>
            <a:rPr lang="en-ZA" dirty="0"/>
            <a:t>Train Model</a:t>
          </a:r>
          <a:endParaRPr lang="en-US" dirty="0"/>
        </a:p>
      </dgm:t>
    </dgm:pt>
    <dgm:pt modelId="{9617668C-C38C-4017-8DDF-37855B15D110}" type="parTrans" cxnId="{C4BA385D-31ED-40EF-A5D6-98DFBA64E71A}">
      <dgm:prSet/>
      <dgm:spPr/>
      <dgm:t>
        <a:bodyPr/>
        <a:lstStyle/>
        <a:p>
          <a:endParaRPr lang="en-US"/>
        </a:p>
      </dgm:t>
    </dgm:pt>
    <dgm:pt modelId="{0C95B389-AC0C-4055-9AA3-38815EFC8B0A}" type="sibTrans" cxnId="{C4BA385D-31ED-40EF-A5D6-98DFBA64E71A}">
      <dgm:prSet/>
      <dgm:spPr/>
      <dgm:t>
        <a:bodyPr/>
        <a:lstStyle/>
        <a:p>
          <a:endParaRPr lang="en-US"/>
        </a:p>
      </dgm:t>
    </dgm:pt>
    <dgm:pt modelId="{91A66877-AC1C-46D9-BF2C-6024B638DEA9}">
      <dgm:prSet phldrT="[Text]"/>
      <dgm:spPr/>
      <dgm:t>
        <a:bodyPr/>
        <a:lstStyle/>
        <a:p>
          <a:r>
            <a:rPr lang="en-US" dirty="0"/>
            <a:t>Extract &amp; Clean</a:t>
          </a:r>
        </a:p>
      </dgm:t>
    </dgm:pt>
    <dgm:pt modelId="{913FED05-DF41-48A7-B1F8-81937A468EF9}" type="parTrans" cxnId="{7F0DAB6F-9257-4F2D-B31A-3418F73F6952}">
      <dgm:prSet/>
      <dgm:spPr/>
      <dgm:t>
        <a:bodyPr/>
        <a:lstStyle/>
        <a:p>
          <a:endParaRPr lang="en-US"/>
        </a:p>
      </dgm:t>
    </dgm:pt>
    <dgm:pt modelId="{BFCE4A28-C381-46FF-935A-B11534EF7D87}" type="sibTrans" cxnId="{7F0DAB6F-9257-4F2D-B31A-3418F73F6952}">
      <dgm:prSet/>
      <dgm:spPr/>
      <dgm:t>
        <a:bodyPr/>
        <a:lstStyle/>
        <a:p>
          <a:endParaRPr lang="en-US"/>
        </a:p>
      </dgm:t>
    </dgm:pt>
    <dgm:pt modelId="{76CC3289-2662-43F0-A3C6-BA04A135F08C}">
      <dgm:prSet phldrT="[Text]"/>
      <dgm:spPr/>
      <dgm:t>
        <a:bodyPr/>
        <a:lstStyle/>
        <a:p>
          <a:r>
            <a:rPr lang="en-US" dirty="0"/>
            <a:t>Make Prediction</a:t>
          </a:r>
        </a:p>
      </dgm:t>
    </dgm:pt>
    <dgm:pt modelId="{D46DB4DA-1442-4ECE-89FE-BBB1E3489E3D}" type="parTrans" cxnId="{0400886E-8A1A-44C2-95A7-DB0EF4911494}">
      <dgm:prSet/>
      <dgm:spPr/>
      <dgm:t>
        <a:bodyPr/>
        <a:lstStyle/>
        <a:p>
          <a:endParaRPr lang="en-US"/>
        </a:p>
      </dgm:t>
    </dgm:pt>
    <dgm:pt modelId="{FA28C9D6-476E-43CD-BA23-D6D990FD78D0}" type="sibTrans" cxnId="{0400886E-8A1A-44C2-95A7-DB0EF4911494}">
      <dgm:prSet/>
      <dgm:spPr/>
      <dgm:t>
        <a:bodyPr/>
        <a:lstStyle/>
        <a:p>
          <a:endParaRPr lang="en-US"/>
        </a:p>
      </dgm:t>
    </dgm:pt>
    <dgm:pt modelId="{8994D886-A75F-411A-A9D7-D31991FF12BD}" type="pres">
      <dgm:prSet presAssocID="{7D9C16A6-8C48-4165-8DAF-8C957C12A8FA}" presName="root" presStyleCnt="0">
        <dgm:presLayoutVars>
          <dgm:dir/>
          <dgm:resizeHandles val="exact"/>
        </dgm:presLayoutVars>
      </dgm:prSet>
      <dgm:spPr/>
    </dgm:pt>
    <dgm:pt modelId="{E1DBA6D5-BD14-4CD2-A0CC-80F867FEFA81}" type="pres">
      <dgm:prSet presAssocID="{701D68F5-42F8-47BC-8FED-84C50F595DF0}" presName="compNode" presStyleCnt="0"/>
      <dgm:spPr/>
    </dgm:pt>
    <dgm:pt modelId="{19A8DC21-3E65-409D-AD53-DA51BB9198A0}" type="pres">
      <dgm:prSet presAssocID="{701D68F5-42F8-47BC-8FED-84C50F595DF0}" presName="iconRect" presStyleLbl="node1" presStyleIdx="0" presStyleCnt="3" custScaleX="157625" custScaleY="157625" custLinFactX="100000" custLinFactNeighborX="175553" custLinFactNeighborY="-2214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Network"/>
        </a:ext>
      </dgm:extLst>
    </dgm:pt>
    <dgm:pt modelId="{B9F90A48-FF94-4C94-A587-0190406F6FD3}" type="pres">
      <dgm:prSet presAssocID="{701D68F5-42F8-47BC-8FED-84C50F595DF0}" presName="spaceRect" presStyleCnt="0"/>
      <dgm:spPr/>
    </dgm:pt>
    <dgm:pt modelId="{A99B5DD6-89E9-4537-B415-4205CEB9323A}" type="pres">
      <dgm:prSet presAssocID="{701D68F5-42F8-47BC-8FED-84C50F595DF0}" presName="textRect" presStyleLbl="revTx" presStyleIdx="0" presStyleCnt="3" custLinFactX="21897" custLinFactNeighborX="100000" custLinFactNeighborY="-6272">
        <dgm:presLayoutVars>
          <dgm:chMax val="1"/>
          <dgm:chPref val="1"/>
        </dgm:presLayoutVars>
      </dgm:prSet>
      <dgm:spPr/>
    </dgm:pt>
    <dgm:pt modelId="{8B391436-B9B0-45BD-A57F-792D6376D868}" type="pres">
      <dgm:prSet presAssocID="{0C95B389-AC0C-4055-9AA3-38815EFC8B0A}" presName="sibTrans" presStyleCnt="0"/>
      <dgm:spPr/>
    </dgm:pt>
    <dgm:pt modelId="{95872155-C45D-46D3-874C-D838089A06F8}" type="pres">
      <dgm:prSet presAssocID="{91A66877-AC1C-46D9-BF2C-6024B638DEA9}" presName="compNode" presStyleCnt="0"/>
      <dgm:spPr/>
    </dgm:pt>
    <dgm:pt modelId="{CE9DF0E8-B0DE-4E1E-9FF4-6006AD8428DB}" type="pres">
      <dgm:prSet presAssocID="{91A66877-AC1C-46D9-BF2C-6024B638DEA9}" presName="iconRect" presStyleLbl="node1" presStyleIdx="1" presStyleCnt="3" custScaleX="157625" custScaleY="157625" custLinFactX="-100000" custLinFactNeighborX="-145973" custLinFactNeighborY="-2413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atellite"/>
        </a:ext>
      </dgm:extLst>
    </dgm:pt>
    <dgm:pt modelId="{AA0423A1-55B2-45E9-BFE7-3FBE5BDA65ED}" type="pres">
      <dgm:prSet presAssocID="{91A66877-AC1C-46D9-BF2C-6024B638DEA9}" presName="spaceRect" presStyleCnt="0"/>
      <dgm:spPr/>
    </dgm:pt>
    <dgm:pt modelId="{55120873-6F5C-4053-8EAD-6287A7F1097E}" type="pres">
      <dgm:prSet presAssocID="{91A66877-AC1C-46D9-BF2C-6024B638DEA9}" presName="textRect" presStyleLbl="revTx" presStyleIdx="1" presStyleCnt="3" custLinFactX="-16399" custLinFactNeighborX="-100000" custLinFactNeighborY="-2454">
        <dgm:presLayoutVars>
          <dgm:chMax val="1"/>
          <dgm:chPref val="1"/>
        </dgm:presLayoutVars>
      </dgm:prSet>
      <dgm:spPr/>
    </dgm:pt>
    <dgm:pt modelId="{F679C986-30E4-4F0A-A3A6-CAE528BFED76}" type="pres">
      <dgm:prSet presAssocID="{BFCE4A28-C381-46FF-935A-B11534EF7D87}" presName="sibTrans" presStyleCnt="0"/>
      <dgm:spPr/>
    </dgm:pt>
    <dgm:pt modelId="{2EC2FDE3-8908-45C7-A3FD-EB370213FE69}" type="pres">
      <dgm:prSet presAssocID="{76CC3289-2662-43F0-A3C6-BA04A135F08C}" presName="compNode" presStyleCnt="0"/>
      <dgm:spPr/>
    </dgm:pt>
    <dgm:pt modelId="{6DB1FE51-13D0-4A38-AD6E-48D4371A1AF3}" type="pres">
      <dgm:prSet presAssocID="{76CC3289-2662-43F0-A3C6-BA04A135F08C}" presName="iconRect" presStyleLbl="node1" presStyleIdx="2" presStyleCnt="3" custScaleX="157625" custScaleY="15762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Link"/>
        </a:ext>
      </dgm:extLst>
    </dgm:pt>
    <dgm:pt modelId="{0928538A-05CC-4A79-BD5D-92F985D1EEE5}" type="pres">
      <dgm:prSet presAssocID="{76CC3289-2662-43F0-A3C6-BA04A135F08C}" presName="spaceRect" presStyleCnt="0"/>
      <dgm:spPr/>
    </dgm:pt>
    <dgm:pt modelId="{133097FC-B1F8-4953-B0AB-E8E73D968D1C}" type="pres">
      <dgm:prSet presAssocID="{76CC3289-2662-43F0-A3C6-BA04A135F08C}" presName="textRect" presStyleLbl="revTx" presStyleIdx="2" presStyleCnt="3">
        <dgm:presLayoutVars>
          <dgm:chMax val="1"/>
          <dgm:chPref val="1"/>
        </dgm:presLayoutVars>
      </dgm:prSet>
      <dgm:spPr/>
    </dgm:pt>
  </dgm:ptLst>
  <dgm:cxnLst>
    <dgm:cxn modelId="{1B8CB22C-9648-419B-97E9-4AA6C3555723}" type="presOf" srcId="{701D68F5-42F8-47BC-8FED-84C50F595DF0}" destId="{A99B5DD6-89E9-4537-B415-4205CEB9323A}" srcOrd="0" destOrd="0" presId="urn:microsoft.com/office/officeart/2018/2/layout/IconLabelList"/>
    <dgm:cxn modelId="{C4BA385D-31ED-40EF-A5D6-98DFBA64E71A}" srcId="{7D9C16A6-8C48-4165-8DAF-8C957C12A8FA}" destId="{701D68F5-42F8-47BC-8FED-84C50F595DF0}" srcOrd="0" destOrd="0" parTransId="{9617668C-C38C-4017-8DDF-37855B15D110}" sibTransId="{0C95B389-AC0C-4055-9AA3-38815EFC8B0A}"/>
    <dgm:cxn modelId="{5574CC64-4BF2-43BE-BABC-6DF1E58A4C74}" type="presOf" srcId="{7D9C16A6-8C48-4165-8DAF-8C957C12A8FA}" destId="{8994D886-A75F-411A-A9D7-D31991FF12BD}" srcOrd="0" destOrd="0" presId="urn:microsoft.com/office/officeart/2018/2/layout/IconLabelList"/>
    <dgm:cxn modelId="{0400886E-8A1A-44C2-95A7-DB0EF4911494}" srcId="{7D9C16A6-8C48-4165-8DAF-8C957C12A8FA}" destId="{76CC3289-2662-43F0-A3C6-BA04A135F08C}" srcOrd="2" destOrd="0" parTransId="{D46DB4DA-1442-4ECE-89FE-BBB1E3489E3D}" sibTransId="{FA28C9D6-476E-43CD-BA23-D6D990FD78D0}"/>
    <dgm:cxn modelId="{7F0DAB6F-9257-4F2D-B31A-3418F73F6952}" srcId="{7D9C16A6-8C48-4165-8DAF-8C957C12A8FA}" destId="{91A66877-AC1C-46D9-BF2C-6024B638DEA9}" srcOrd="1" destOrd="0" parTransId="{913FED05-DF41-48A7-B1F8-81937A468EF9}" sibTransId="{BFCE4A28-C381-46FF-935A-B11534EF7D87}"/>
    <dgm:cxn modelId="{EC5C6E85-C523-4B60-976B-342F12E3A6CB}" type="presOf" srcId="{91A66877-AC1C-46D9-BF2C-6024B638DEA9}" destId="{55120873-6F5C-4053-8EAD-6287A7F1097E}" srcOrd="0" destOrd="0" presId="urn:microsoft.com/office/officeart/2018/2/layout/IconLabelList"/>
    <dgm:cxn modelId="{6E31C6AB-C9E6-448F-A8CC-566A63619D4D}" type="presOf" srcId="{76CC3289-2662-43F0-A3C6-BA04A135F08C}" destId="{133097FC-B1F8-4953-B0AB-E8E73D968D1C}" srcOrd="0" destOrd="0" presId="urn:microsoft.com/office/officeart/2018/2/layout/IconLabelList"/>
    <dgm:cxn modelId="{2AD6E781-3ED2-484E-B438-73386D2C583D}" type="presParOf" srcId="{8994D886-A75F-411A-A9D7-D31991FF12BD}" destId="{E1DBA6D5-BD14-4CD2-A0CC-80F867FEFA81}" srcOrd="0" destOrd="0" presId="urn:microsoft.com/office/officeart/2018/2/layout/IconLabelList"/>
    <dgm:cxn modelId="{10B2B212-528C-471D-ABD0-D66ED992B833}" type="presParOf" srcId="{E1DBA6D5-BD14-4CD2-A0CC-80F867FEFA81}" destId="{19A8DC21-3E65-409D-AD53-DA51BB9198A0}" srcOrd="0" destOrd="0" presId="urn:microsoft.com/office/officeart/2018/2/layout/IconLabelList"/>
    <dgm:cxn modelId="{2A8FB3D0-F98B-4F5A-BACA-4315E38776FB}" type="presParOf" srcId="{E1DBA6D5-BD14-4CD2-A0CC-80F867FEFA81}" destId="{B9F90A48-FF94-4C94-A587-0190406F6FD3}" srcOrd="1" destOrd="0" presId="urn:microsoft.com/office/officeart/2018/2/layout/IconLabelList"/>
    <dgm:cxn modelId="{95FEF629-9884-451C-89B4-41B897ABE3D6}" type="presParOf" srcId="{E1DBA6D5-BD14-4CD2-A0CC-80F867FEFA81}" destId="{A99B5DD6-89E9-4537-B415-4205CEB9323A}" srcOrd="2" destOrd="0" presId="urn:microsoft.com/office/officeart/2018/2/layout/IconLabelList"/>
    <dgm:cxn modelId="{0FE6827F-DE80-4F8A-8E9D-7F88C0F7EF29}" type="presParOf" srcId="{8994D886-A75F-411A-A9D7-D31991FF12BD}" destId="{8B391436-B9B0-45BD-A57F-792D6376D868}" srcOrd="1" destOrd="0" presId="urn:microsoft.com/office/officeart/2018/2/layout/IconLabelList"/>
    <dgm:cxn modelId="{4857BE3A-D518-473D-AC79-7B9BF18B9824}" type="presParOf" srcId="{8994D886-A75F-411A-A9D7-D31991FF12BD}" destId="{95872155-C45D-46D3-874C-D838089A06F8}" srcOrd="2" destOrd="0" presId="urn:microsoft.com/office/officeart/2018/2/layout/IconLabelList"/>
    <dgm:cxn modelId="{B4B325C4-81F2-4B3E-8CBF-4532B0BFA343}" type="presParOf" srcId="{95872155-C45D-46D3-874C-D838089A06F8}" destId="{CE9DF0E8-B0DE-4E1E-9FF4-6006AD8428DB}" srcOrd="0" destOrd="0" presId="urn:microsoft.com/office/officeart/2018/2/layout/IconLabelList"/>
    <dgm:cxn modelId="{0AE6D335-6E55-47E1-BAD8-0368620AB8F6}" type="presParOf" srcId="{95872155-C45D-46D3-874C-D838089A06F8}" destId="{AA0423A1-55B2-45E9-BFE7-3FBE5BDA65ED}" srcOrd="1" destOrd="0" presId="urn:microsoft.com/office/officeart/2018/2/layout/IconLabelList"/>
    <dgm:cxn modelId="{AFEE8CCD-97FE-4EFA-A584-DF6AFDAD2B20}" type="presParOf" srcId="{95872155-C45D-46D3-874C-D838089A06F8}" destId="{55120873-6F5C-4053-8EAD-6287A7F1097E}" srcOrd="2" destOrd="0" presId="urn:microsoft.com/office/officeart/2018/2/layout/IconLabelList"/>
    <dgm:cxn modelId="{26649F18-C204-4047-8300-905486AB3755}" type="presParOf" srcId="{8994D886-A75F-411A-A9D7-D31991FF12BD}" destId="{F679C986-30E4-4F0A-A3A6-CAE528BFED76}" srcOrd="3" destOrd="0" presId="urn:microsoft.com/office/officeart/2018/2/layout/IconLabelList"/>
    <dgm:cxn modelId="{898D629F-DA37-435F-A0B2-0617605D711A}" type="presParOf" srcId="{8994D886-A75F-411A-A9D7-D31991FF12BD}" destId="{2EC2FDE3-8908-45C7-A3FD-EB370213FE69}" srcOrd="4" destOrd="0" presId="urn:microsoft.com/office/officeart/2018/2/layout/IconLabelList"/>
    <dgm:cxn modelId="{2BDADB1C-15B1-4763-9B35-3792147F8F87}" type="presParOf" srcId="{2EC2FDE3-8908-45C7-A3FD-EB370213FE69}" destId="{6DB1FE51-13D0-4A38-AD6E-48D4371A1AF3}" srcOrd="0" destOrd="0" presId="urn:microsoft.com/office/officeart/2018/2/layout/IconLabelList"/>
    <dgm:cxn modelId="{F692F1E6-C6EC-4391-8432-EB6C34194240}" type="presParOf" srcId="{2EC2FDE3-8908-45C7-A3FD-EB370213FE69}" destId="{0928538A-05CC-4A79-BD5D-92F985D1EEE5}" srcOrd="1" destOrd="0" presId="urn:microsoft.com/office/officeart/2018/2/layout/IconLabelList"/>
    <dgm:cxn modelId="{0E6AF6C4-A4E5-4234-9E16-F9F2334264CD}" type="presParOf" srcId="{2EC2FDE3-8908-45C7-A3FD-EB370213FE69}" destId="{133097FC-B1F8-4953-B0AB-E8E73D968D1C}"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56BF93-8FE7-48D8-B64A-8F24AC91E911}">
      <dsp:nvSpPr>
        <dsp:cNvPr id="0" name=""/>
        <dsp:cNvSpPr/>
      </dsp:nvSpPr>
      <dsp:spPr>
        <a:xfrm>
          <a:off x="4257748" y="1857217"/>
          <a:ext cx="1916884" cy="1967982"/>
        </a:xfrm>
        <a:prstGeom prst="ellipse">
          <a:avLst/>
        </a:prstGeom>
        <a:solidFill>
          <a:schemeClr val="bg1"/>
        </a:solidFill>
        <a:ln>
          <a:noFill/>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4">
              <a:hueOff val="0"/>
              <a:satOff val="0"/>
              <a:lumOff val="0"/>
              <a:alphaOff val="0"/>
              <a:shade val="35000"/>
              <a:satMod val="13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289 GSP </a:t>
          </a:r>
          <a:r>
            <a:rPr lang="en-GB" sz="1800" kern="1200" dirty="0"/>
            <a:t>locations</a:t>
          </a:r>
        </a:p>
      </dsp:txBody>
      <dsp:txXfrm>
        <a:off x="4538469" y="2145421"/>
        <a:ext cx="1355442" cy="1391574"/>
      </dsp:txXfrm>
    </dsp:sp>
    <dsp:sp modelId="{13E9DB14-918D-41C4-BDF0-04C4392351C6}">
      <dsp:nvSpPr>
        <dsp:cNvPr id="0" name=""/>
        <dsp:cNvSpPr/>
      </dsp:nvSpPr>
      <dsp:spPr>
        <a:xfrm rot="16200000">
          <a:off x="5180632" y="1808164"/>
          <a:ext cx="71116" cy="26989"/>
        </a:xfrm>
        <a:custGeom>
          <a:avLst/>
          <a:gdLst/>
          <a:ahLst/>
          <a:cxnLst/>
          <a:rect l="0" t="0" r="0" b="0"/>
          <a:pathLst>
            <a:path>
              <a:moveTo>
                <a:pt x="0" y="13494"/>
              </a:moveTo>
              <a:lnTo>
                <a:pt x="71116" y="13494"/>
              </a:lnTo>
            </a:path>
          </a:pathLst>
        </a:custGeom>
        <a:noFill/>
        <a:ln w="9525" cap="flat"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214412" y="1819881"/>
        <a:ext cx="3555" cy="3555"/>
      </dsp:txXfrm>
    </dsp:sp>
    <dsp:sp modelId="{A309BCFE-D9E8-410E-A834-3DA9340F0E08}">
      <dsp:nvSpPr>
        <dsp:cNvPr id="0" name=""/>
        <dsp:cNvSpPr/>
      </dsp:nvSpPr>
      <dsp:spPr>
        <a:xfrm>
          <a:off x="4272525" y="-187916"/>
          <a:ext cx="1887330" cy="1974018"/>
        </a:xfrm>
        <a:prstGeom prst="ellipse">
          <a:avLst/>
        </a:prstGeom>
        <a:solidFill>
          <a:srgbClr val="00B050"/>
        </a:solidFill>
        <a:ln>
          <a:noFill/>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5">
              <a:hueOff val="0"/>
              <a:satOff val="0"/>
              <a:lumOff val="0"/>
              <a:alphaOff val="0"/>
              <a:shade val="35000"/>
              <a:satMod val="13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2 APIs</a:t>
          </a:r>
        </a:p>
        <a:p>
          <a:pPr marL="0" lvl="0" indent="0" algn="ctr" defTabSz="1066800">
            <a:lnSpc>
              <a:spcPct val="90000"/>
            </a:lnSpc>
            <a:spcBef>
              <a:spcPct val="0"/>
            </a:spcBef>
            <a:spcAft>
              <a:spcPct val="35000"/>
            </a:spcAft>
            <a:buNone/>
          </a:pPr>
          <a:r>
            <a:rPr lang="en-GB" sz="1300" kern="1200" dirty="0"/>
            <a:t>(solar and weather)</a:t>
          </a:r>
        </a:p>
      </dsp:txBody>
      <dsp:txXfrm>
        <a:off x="4548918" y="101172"/>
        <a:ext cx="1334544" cy="1395842"/>
      </dsp:txXfrm>
    </dsp:sp>
    <dsp:sp modelId="{6D38D856-917A-4711-B4B5-E851A509C753}">
      <dsp:nvSpPr>
        <dsp:cNvPr id="0" name=""/>
        <dsp:cNvSpPr/>
      </dsp:nvSpPr>
      <dsp:spPr>
        <a:xfrm>
          <a:off x="6174632" y="2827714"/>
          <a:ext cx="103885" cy="26989"/>
        </a:xfrm>
        <a:custGeom>
          <a:avLst/>
          <a:gdLst/>
          <a:ahLst/>
          <a:cxnLst/>
          <a:rect l="0" t="0" r="0" b="0"/>
          <a:pathLst>
            <a:path>
              <a:moveTo>
                <a:pt x="0" y="13494"/>
              </a:moveTo>
              <a:lnTo>
                <a:pt x="103885" y="13494"/>
              </a:lnTo>
            </a:path>
          </a:pathLst>
        </a:custGeom>
        <a:noFill/>
        <a:ln w="9525" cap="flat"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6223978" y="2838611"/>
        <a:ext cx="5194" cy="5194"/>
      </dsp:txXfrm>
    </dsp:sp>
    <dsp:sp modelId="{0BD56CC0-2251-48F8-A698-8A20B372F487}">
      <dsp:nvSpPr>
        <dsp:cNvPr id="0" name=""/>
        <dsp:cNvSpPr/>
      </dsp:nvSpPr>
      <dsp:spPr>
        <a:xfrm>
          <a:off x="6278517" y="1847998"/>
          <a:ext cx="1959578" cy="1986420"/>
        </a:xfrm>
        <a:prstGeom prst="ellipse">
          <a:avLst/>
        </a:prstGeom>
        <a:solidFill>
          <a:srgbClr val="FFC000"/>
        </a:solidFill>
        <a:ln>
          <a:noFill/>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5">
              <a:hueOff val="30528"/>
              <a:satOff val="-17220"/>
              <a:lumOff val="-5817"/>
              <a:alphaOff val="0"/>
              <a:shade val="35000"/>
              <a:satMod val="13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100000"/>
            </a:lnSpc>
            <a:spcBef>
              <a:spcPct val="0"/>
            </a:spcBef>
            <a:spcAft>
              <a:spcPts val="0"/>
            </a:spcAft>
            <a:buNone/>
          </a:pPr>
          <a:r>
            <a:rPr lang="en-GB" sz="2800" kern="1200" dirty="0"/>
            <a:t>5 years </a:t>
          </a:r>
        </a:p>
        <a:p>
          <a:pPr marL="0" lvl="0" indent="0" algn="ctr" defTabSz="1244600">
            <a:lnSpc>
              <a:spcPct val="100000"/>
            </a:lnSpc>
            <a:spcBef>
              <a:spcPct val="0"/>
            </a:spcBef>
            <a:spcAft>
              <a:spcPts val="0"/>
            </a:spcAft>
            <a:buNone/>
          </a:pPr>
          <a:r>
            <a:rPr lang="en-GB" sz="1300" kern="1200" dirty="0"/>
            <a:t>hourly historical data</a:t>
          </a:r>
        </a:p>
      </dsp:txBody>
      <dsp:txXfrm>
        <a:off x="6565491" y="2138902"/>
        <a:ext cx="1385630" cy="1404612"/>
      </dsp:txXfrm>
    </dsp:sp>
    <dsp:sp modelId="{9D393006-ED98-48FA-9FD9-B3085BD36790}">
      <dsp:nvSpPr>
        <dsp:cNvPr id="0" name=""/>
        <dsp:cNvSpPr/>
      </dsp:nvSpPr>
      <dsp:spPr>
        <a:xfrm rot="5350207">
          <a:off x="5202774" y="3839667"/>
          <a:ext cx="56148" cy="26989"/>
        </a:xfrm>
        <a:custGeom>
          <a:avLst/>
          <a:gdLst/>
          <a:ahLst/>
          <a:cxnLst/>
          <a:rect l="0" t="0" r="0" b="0"/>
          <a:pathLst>
            <a:path>
              <a:moveTo>
                <a:pt x="0" y="13494"/>
              </a:moveTo>
              <a:lnTo>
                <a:pt x="56148" y="13494"/>
              </a:lnTo>
            </a:path>
          </a:pathLst>
        </a:custGeom>
        <a:noFill/>
        <a:ln w="9525" cap="flat"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5229445" y="3851758"/>
        <a:ext cx="2807" cy="2807"/>
      </dsp:txXfrm>
    </dsp:sp>
    <dsp:sp modelId="{41A4E4A7-F1B1-4961-B3E4-16E3910F1F20}">
      <dsp:nvSpPr>
        <dsp:cNvPr id="0" name=""/>
        <dsp:cNvSpPr/>
      </dsp:nvSpPr>
      <dsp:spPr>
        <a:xfrm>
          <a:off x="4230892" y="3881131"/>
          <a:ext cx="2029757" cy="2004388"/>
        </a:xfrm>
        <a:prstGeom prst="ellipse">
          <a:avLst/>
        </a:prstGeom>
        <a:solidFill>
          <a:schemeClr val="accent2">
            <a:lumMod val="75000"/>
          </a:schemeClr>
        </a:solidFill>
        <a:ln>
          <a:noFill/>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5">
              <a:hueOff val="61057"/>
              <a:satOff val="-34441"/>
              <a:lumOff val="-11633"/>
              <a:alphaOff val="0"/>
              <a:shade val="35000"/>
              <a:satMod val="13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GB" sz="2400" kern="1200" dirty="0"/>
            <a:t>5 ML </a:t>
          </a:r>
          <a:r>
            <a:rPr lang="en-GB" sz="1300" kern="1200" dirty="0"/>
            <a:t>algorithms</a:t>
          </a:r>
        </a:p>
        <a:p>
          <a:pPr marL="0" lvl="0" indent="0" algn="ctr" defTabSz="1066800">
            <a:lnSpc>
              <a:spcPct val="90000"/>
            </a:lnSpc>
            <a:spcBef>
              <a:spcPct val="0"/>
            </a:spcBef>
            <a:spcAft>
              <a:spcPct val="35000"/>
            </a:spcAft>
            <a:buNone/>
          </a:pPr>
          <a:r>
            <a:rPr lang="en-GB" sz="1300" kern="1200" dirty="0"/>
            <a:t>trained and tested</a:t>
          </a:r>
        </a:p>
      </dsp:txBody>
      <dsp:txXfrm>
        <a:off x="4528143" y="4174667"/>
        <a:ext cx="1435255" cy="1417316"/>
      </dsp:txXfrm>
    </dsp:sp>
    <dsp:sp modelId="{3237B996-EE98-4BBB-855D-D8F16A52945B}">
      <dsp:nvSpPr>
        <dsp:cNvPr id="0" name=""/>
        <dsp:cNvSpPr/>
      </dsp:nvSpPr>
      <dsp:spPr>
        <a:xfrm rot="10800000">
          <a:off x="4129639" y="2827714"/>
          <a:ext cx="128108" cy="26989"/>
        </a:xfrm>
        <a:custGeom>
          <a:avLst/>
          <a:gdLst/>
          <a:ahLst/>
          <a:cxnLst/>
          <a:rect l="0" t="0" r="0" b="0"/>
          <a:pathLst>
            <a:path>
              <a:moveTo>
                <a:pt x="0" y="13494"/>
              </a:moveTo>
              <a:lnTo>
                <a:pt x="128108" y="13494"/>
              </a:lnTo>
            </a:path>
          </a:pathLst>
        </a:custGeom>
        <a:noFill/>
        <a:ln w="9525" cap="flat"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rot="10800000">
        <a:off x="4190491" y="2838006"/>
        <a:ext cx="6405" cy="6405"/>
      </dsp:txXfrm>
    </dsp:sp>
    <dsp:sp modelId="{16279E2B-23A1-45E7-ACF3-4066396A4FE7}">
      <dsp:nvSpPr>
        <dsp:cNvPr id="0" name=""/>
        <dsp:cNvSpPr/>
      </dsp:nvSpPr>
      <dsp:spPr>
        <a:xfrm>
          <a:off x="2218508" y="1827671"/>
          <a:ext cx="1911130" cy="2027075"/>
        </a:xfrm>
        <a:prstGeom prst="ellipse">
          <a:avLst/>
        </a:prstGeom>
        <a:solidFill>
          <a:srgbClr val="002060"/>
        </a:solidFill>
        <a:ln>
          <a:noFill/>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5">
              <a:hueOff val="91585"/>
              <a:satOff val="-51661"/>
              <a:lumOff val="-17450"/>
              <a:alphaOff val="0"/>
              <a:shade val="35000"/>
              <a:satMod val="13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GB" sz="2800" kern="1200" dirty="0"/>
            <a:t>6GW </a:t>
          </a:r>
          <a:r>
            <a:rPr lang="en-GB" sz="1300" kern="1200" dirty="0"/>
            <a:t>Solar capacity</a:t>
          </a:r>
        </a:p>
      </dsp:txBody>
      <dsp:txXfrm>
        <a:off x="2498387" y="2124529"/>
        <a:ext cx="1351372" cy="14333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A8DC21-3E65-409D-AD53-DA51BB9198A0}">
      <dsp:nvSpPr>
        <dsp:cNvPr id="0" name=""/>
        <dsp:cNvSpPr/>
      </dsp:nvSpPr>
      <dsp:spPr>
        <a:xfrm>
          <a:off x="4170081" y="77805"/>
          <a:ext cx="900217" cy="90021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9B5DD6-89E9-4537-B415-4205CEB9323A}">
      <dsp:nvSpPr>
        <dsp:cNvPr id="0" name=""/>
        <dsp:cNvSpPr/>
      </dsp:nvSpPr>
      <dsp:spPr>
        <a:xfrm>
          <a:off x="3958944" y="1098515"/>
          <a:ext cx="1269140" cy="507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ZA" sz="1800" kern="1200" dirty="0"/>
            <a:t>Train Model</a:t>
          </a:r>
          <a:endParaRPr lang="en-US" sz="1800" kern="1200" dirty="0"/>
        </a:p>
      </dsp:txBody>
      <dsp:txXfrm>
        <a:off x="3958944" y="1098515"/>
        <a:ext cx="1269140" cy="507656"/>
      </dsp:txXfrm>
    </dsp:sp>
    <dsp:sp modelId="{CE9DF0E8-B0DE-4E1E-9FF4-6006AD8428DB}">
      <dsp:nvSpPr>
        <dsp:cNvPr id="0" name=""/>
        <dsp:cNvSpPr/>
      </dsp:nvSpPr>
      <dsp:spPr>
        <a:xfrm>
          <a:off x="2682817" y="66463"/>
          <a:ext cx="900217" cy="9002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120873-6F5C-4053-8EAD-6287A7F1097E}">
      <dsp:nvSpPr>
        <dsp:cNvPr id="0" name=""/>
        <dsp:cNvSpPr/>
      </dsp:nvSpPr>
      <dsp:spPr>
        <a:xfrm>
          <a:off x="2425873" y="1117897"/>
          <a:ext cx="1269140" cy="507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dirty="0"/>
            <a:t>Extract &amp; Clean</a:t>
          </a:r>
        </a:p>
      </dsp:txBody>
      <dsp:txXfrm>
        <a:off x="2425873" y="1117897"/>
        <a:ext cx="1269140" cy="507656"/>
      </dsp:txXfrm>
    </dsp:sp>
    <dsp:sp modelId="{6DB1FE51-13D0-4A38-AD6E-48D4371A1AF3}">
      <dsp:nvSpPr>
        <dsp:cNvPr id="0" name=""/>
        <dsp:cNvSpPr/>
      </dsp:nvSpPr>
      <dsp:spPr>
        <a:xfrm>
          <a:off x="5578842" y="204273"/>
          <a:ext cx="900217" cy="90021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33097FC-B1F8-4953-B0AB-E8E73D968D1C}">
      <dsp:nvSpPr>
        <dsp:cNvPr id="0" name=""/>
        <dsp:cNvSpPr/>
      </dsp:nvSpPr>
      <dsp:spPr>
        <a:xfrm>
          <a:off x="5394380" y="1130355"/>
          <a:ext cx="1269140" cy="5076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dirty="0"/>
            <a:t>Make Prediction</a:t>
          </a:r>
        </a:p>
      </dsp:txBody>
      <dsp:txXfrm>
        <a:off x="5394380" y="1130355"/>
        <a:ext cx="1269140" cy="507656"/>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7.jpe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1/25/2026</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1/25/2026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Image source: Microsoft 365 content library
Highlighting important numbers offers a quick snapshot of performance or growth. Core categories group information effectively, making analysis and decision-making easier. Together, they provide essential insights, support strategic planning, and allow stakeholders to focus on the most impactful areas of a business or project.</a:t>
            </a:r>
          </a:p>
        </p:txBody>
      </p:sp>
      <p:sp>
        <p:nvSpPr>
          <p:cNvPr id="4" name="Slide Number Placeholder 3"/>
          <p:cNvSpPr>
            <a:spLocks noGrp="1"/>
          </p:cNvSpPr>
          <p:nvPr>
            <p:ph type="sldNum" sz="quarter" idx="5"/>
          </p:nvPr>
        </p:nvSpPr>
        <p:spPr/>
        <p:txBody>
          <a:bodyPr/>
          <a:lstStyle/>
          <a:p>
            <a:fld id="{C6B3AB32-59DF-41F1-9618-EDFBF5049629}" type="slidenum">
              <a:rPr lang="en-US" smtClean="0"/>
              <a:t>8</a:t>
            </a:fld>
            <a:endParaRPr lang="en-US" dirty="0"/>
          </a:p>
        </p:txBody>
      </p:sp>
    </p:spTree>
    <p:extLst>
      <p:ext uri="{BB962C8B-B14F-4D97-AF65-F5344CB8AC3E}">
        <p14:creationId xmlns:p14="http://schemas.microsoft.com/office/powerpoint/2010/main" val="616317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10</a:t>
            </a:fld>
            <a:endParaRPr lang="en-US" dirty="0"/>
          </a:p>
        </p:txBody>
      </p:sp>
    </p:spTree>
    <p:extLst>
      <p:ext uri="{BB962C8B-B14F-4D97-AF65-F5344CB8AC3E}">
        <p14:creationId xmlns:p14="http://schemas.microsoft.com/office/powerpoint/2010/main" val="3505115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11</a:t>
            </a:fld>
            <a:endParaRPr lang="en-US" dirty="0"/>
          </a:p>
        </p:txBody>
      </p:sp>
    </p:spTree>
    <p:extLst>
      <p:ext uri="{BB962C8B-B14F-4D97-AF65-F5344CB8AC3E}">
        <p14:creationId xmlns:p14="http://schemas.microsoft.com/office/powerpoint/2010/main" val="431927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16</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6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B61BEF0D-F0BB-DE4B-95CE-6DB70DBA9567}" type="datetimeFigureOut">
              <a:rPr lang="en-US" smtClean="0"/>
              <a:pPr/>
              <a:t>1/25/2026</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vert="horz" lIns="45720" tIns="45720" rIns="45720" bIns="45720" rtlCol="0" anchor="ctr">
            <a:normAutofit/>
          </a:bodyPr>
          <a:lstStyle>
            <a:lvl1pPr>
              <a:defRPr lang="en-US"/>
            </a:lvl1p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543485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9435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Rectangle 7"/>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50723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8182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7879"/>
            <a:ext cx="4480560" cy="731520"/>
          </a:xfrm>
        </p:spPr>
        <p:txBody>
          <a:bodyPr anchor="b">
            <a:normAutofit/>
          </a:bodyPr>
          <a:lstStyle>
            <a:lvl1pPr marL="0" indent="0">
              <a:spcBef>
                <a:spcPts val="0"/>
              </a:spcBef>
              <a:buNone/>
              <a:defRPr sz="2000" b="0">
                <a:solidFill>
                  <a:schemeClr val="tx1">
                    <a:lumMod val="6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3"/>
          </p:nvPr>
        </p:nvSpPr>
        <p:spPr>
          <a:xfrm>
            <a:off x="6126480" y="1717879"/>
            <a:ext cx="4480560" cy="731520"/>
          </a:xfrm>
        </p:spPr>
        <p:txBody>
          <a:bodyPr anchor="b">
            <a:normAutofit/>
          </a:bodyPr>
          <a:lstStyle>
            <a:lvl1pPr marL="0" indent="0">
              <a:spcBef>
                <a:spcPts val="0"/>
              </a:spcBef>
              <a:buFontTx/>
              <a:buNone/>
              <a:defRPr lang="en-US" sz="2000" b="0" kern="1200" spc="10" baseline="0" dirty="0">
                <a:solidFill>
                  <a:schemeClr val="tx1">
                    <a:lumMod val="65000"/>
                  </a:schemeClr>
                </a:solidFill>
                <a:latin typeface="+mn-lt"/>
                <a:ea typeface="+mn-ea"/>
                <a:cs typeface="+mn-cs"/>
              </a:defRPr>
            </a:lvl1pPr>
          </a:lstStyle>
          <a:p>
            <a:pPr lvl="0"/>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56533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91083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65227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41298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tx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77194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8407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75448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1">
                    <a:lumMod val="50000"/>
                  </a:schemeClr>
                </a:solidFill>
              </a:defRPr>
            </a:lvl1pPr>
          </a:lstStyle>
          <a:p>
            <a:fld id="{B61BEF0D-F0BB-DE4B-95CE-6DB70DBA9567}" type="datetimeFigureOut">
              <a:rPr lang="en-US" smtClean="0"/>
              <a:pPr/>
              <a:t>1/25/2026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rgbClr val="969696"/>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rgbClr val="777777"/>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7957300"/>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8" Type="http://schemas.openxmlformats.org/officeDocument/2006/relationships/hyperlink" Target="https://github.com/SheffieldSolar/PV_Live-API" TargetMode="Externa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hyperlink" Target="https://open-meteo.com/en/docs/historical-weather-api" TargetMode="External"/><Relationship Id="rId4" Type="http://schemas.openxmlformats.org/officeDocument/2006/relationships/diagramLayout" Target="../diagrams/layout2.xml"/><Relationship Id="rId9" Type="http://schemas.openxmlformats.org/officeDocument/2006/relationships/hyperlink" Target="https://www.neso.energy/data-portal/gis-boundaries-gb-grid-supply-points"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6.xml"/><Relationship Id="rId1" Type="http://schemas.openxmlformats.org/officeDocument/2006/relationships/vmlDrawing" Target="../drawings/vmlDrawing1.v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4E380C5-7749-43BA-8882-FCA204E04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51489"/>
            <a:ext cx="11292840" cy="26065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914400" y="4624001"/>
            <a:ext cx="9777603" cy="1152524"/>
          </a:xfrm>
        </p:spPr>
        <p:txBody>
          <a:bodyPr>
            <a:normAutofit/>
          </a:bodyPr>
          <a:lstStyle/>
          <a:p>
            <a:r>
              <a:rPr lang="en-US" sz="4800"/>
              <a:t>UK Embedded Solar Generation</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914400" y="5747950"/>
            <a:ext cx="9777603" cy="594360"/>
          </a:xfrm>
        </p:spPr>
        <p:txBody>
          <a:bodyPr>
            <a:normAutofit/>
          </a:bodyPr>
          <a:lstStyle/>
          <a:p>
            <a:r>
              <a:rPr lang="en-US" sz="1400" dirty="0"/>
              <a:t>An analysis and predictions of UK Embedded Solar Generation By Grid Supply Point (GSP)</a:t>
            </a:r>
          </a:p>
        </p:txBody>
      </p:sp>
      <p:sp>
        <p:nvSpPr>
          <p:cNvPr id="14" name="Rectangle 13">
            <a:extLst>
              <a:ext uri="{FF2B5EF4-FFF2-40B4-BE49-F238E27FC236}">
                <a16:creationId xmlns:a16="http://schemas.microsoft.com/office/drawing/2014/main" id="{96CE6671-CF24-4AFF-9AA3-19B3A7A5A2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2990" r="3226" b="-1"/>
          <a:stretch>
            <a:fillRect/>
          </a:stretch>
        </p:blipFill>
        <p:spPr>
          <a:xfrm>
            <a:off x="457199" y="10"/>
            <a:ext cx="6916589" cy="4251479"/>
          </a:xfrm>
          <a:prstGeom prst="rect">
            <a:avLst/>
          </a:prstGeom>
        </p:spPr>
      </p:pic>
      <p:pic>
        <p:nvPicPr>
          <p:cNvPr id="5" name="Picture 4">
            <a:extLst>
              <a:ext uri="{FF2B5EF4-FFF2-40B4-BE49-F238E27FC236}">
                <a16:creationId xmlns:a16="http://schemas.microsoft.com/office/drawing/2014/main" id="{447D182C-84EF-1279-34DA-F4524DE6EA10}"/>
              </a:ext>
            </a:extLst>
          </p:cNvPr>
          <p:cNvPicPr>
            <a:picLocks noChangeAspect="1"/>
          </p:cNvPicPr>
          <p:nvPr/>
        </p:nvPicPr>
        <p:blipFill>
          <a:blip r:embed="rId4"/>
          <a:srcRect l="15516" r="13767" b="1"/>
          <a:stretch>
            <a:fillRect/>
          </a:stretch>
        </p:blipFill>
        <p:spPr>
          <a:xfrm>
            <a:off x="7534657" y="10"/>
            <a:ext cx="3758183" cy="4251479"/>
          </a:xfrm>
          <a:prstGeom prst="rect">
            <a:avLst/>
          </a:prstGeom>
        </p:spPr>
      </p:pic>
    </p:spTree>
    <p:extLst>
      <p:ext uri="{BB962C8B-B14F-4D97-AF65-F5344CB8AC3E}">
        <p14:creationId xmlns:p14="http://schemas.microsoft.com/office/powerpoint/2010/main" val="1487700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2A768-B722-1719-7F39-B52F96C3FEBD}"/>
              </a:ext>
            </a:extLst>
          </p:cNvPr>
          <p:cNvSpPr>
            <a:spLocks noGrp="1"/>
          </p:cNvSpPr>
          <p:nvPr>
            <p:ph type="title"/>
          </p:nvPr>
        </p:nvSpPr>
        <p:spPr>
          <a:xfrm>
            <a:off x="579604" y="416216"/>
            <a:ext cx="9905998" cy="848139"/>
          </a:xfrm>
        </p:spPr>
        <p:txBody>
          <a:bodyPr anchor="b">
            <a:normAutofit/>
          </a:bodyPr>
          <a:lstStyle/>
          <a:p>
            <a:r>
              <a:rPr lang="en-GB" dirty="0"/>
              <a:t>Presentation Overview</a:t>
            </a:r>
          </a:p>
        </p:txBody>
      </p:sp>
      <p:graphicFrame>
        <p:nvGraphicFramePr>
          <p:cNvPr id="5" name="Content Placeholder 4">
            <a:extLst>
              <a:ext uri="{FF2B5EF4-FFF2-40B4-BE49-F238E27FC236}">
                <a16:creationId xmlns:a16="http://schemas.microsoft.com/office/drawing/2014/main" id="{FC478C3F-C510-022E-B020-04FB611C7C2B}"/>
              </a:ext>
            </a:extLst>
          </p:cNvPr>
          <p:cNvGraphicFramePr>
            <a:graphicFrameLocks noGrp="1"/>
          </p:cNvGraphicFramePr>
          <p:nvPr>
            <p:ph idx="1"/>
            <p:extLst>
              <p:ext uri="{D42A27DB-BD31-4B8C-83A1-F6EECF244321}">
                <p14:modId xmlns:p14="http://schemas.microsoft.com/office/powerpoint/2010/main" val="3846631882"/>
              </p:ext>
              <p:ext uri="{E7BDC344-281C-4309-B0C6-D0EE65EED2A8}">
                <p202:designPr xmlns:p202="http://schemas.microsoft.com/office/powerpoint/2020/02/main">
                  <p202:designTagLst>
                    <p202:designTag name="ARCH:1:CLS" val="InformationTable"/>
                  </p202:designTagLst>
                </p202:designPr>
              </p:ext>
            </p:extLst>
          </p:nvPr>
        </p:nvGraphicFramePr>
        <p:xfrm>
          <a:off x="579604" y="1627055"/>
          <a:ext cx="11029616" cy="3603890"/>
        </p:xfrm>
        <a:graphic>
          <a:graphicData uri="http://schemas.openxmlformats.org/drawingml/2006/table">
            <a:tbl>
              <a:tblPr bandRow="1">
                <a:noFill/>
                <a:tableStyleId>{5C22544A-7EE6-4342-B048-85BDC9FD1C3A}</a:tableStyleId>
              </a:tblPr>
              <a:tblGrid>
                <a:gridCol w="1978044">
                  <a:extLst>
                    <a:ext uri="{9D8B030D-6E8A-4147-A177-3AD203B41FA5}">
                      <a16:colId xmlns:a16="http://schemas.microsoft.com/office/drawing/2014/main" val="3444418601"/>
                    </a:ext>
                  </a:extLst>
                </a:gridCol>
                <a:gridCol w="9051572">
                  <a:extLst>
                    <a:ext uri="{9D8B030D-6E8A-4147-A177-3AD203B41FA5}">
                      <a16:colId xmlns:a16="http://schemas.microsoft.com/office/drawing/2014/main" val="2276748682"/>
                    </a:ext>
                  </a:extLst>
                </a:gridCol>
              </a:tblGrid>
              <a:tr h="729610">
                <a:tc gridSpan="2">
                  <a:txBody>
                    <a:bodyPr/>
                    <a:lstStyle/>
                    <a:p>
                      <a:pPr>
                        <a:buNone/>
                      </a:pPr>
                      <a:r>
                        <a:rPr lang="en-GB" sz="3600" b="1" cap="all" spc="150" dirty="0">
                          <a:solidFill>
                            <a:schemeClr val="tx1"/>
                          </a:solidFill>
                        </a:rPr>
                        <a:t>Contents</a:t>
                      </a:r>
                    </a:p>
                  </a:txBody>
                  <a:tcPr marL="134837" marR="134837" marT="134837" marB="134837" anchor="ctr">
                    <a:lnL w="12700" cmpd="sng">
                      <a:noFill/>
                    </a:lnL>
                    <a:lnR w="12700" cmpd="sng">
                      <a:noFill/>
                    </a:lnR>
                    <a:lnT w="6350" cap="flat" cmpd="sng" algn="ctr">
                      <a:noFill/>
                      <a:prstDash val="solid"/>
                    </a:lnT>
                    <a:lnB w="19050" cap="flat" cmpd="sng" algn="ctr">
                      <a:solidFill>
                        <a:schemeClr val="accent1"/>
                      </a:solidFill>
                      <a:prstDash val="solid"/>
                    </a:lnB>
                    <a:noFill/>
                  </a:tcPr>
                </a:tc>
                <a:tc hMerge="1">
                  <a:txBody>
                    <a:bodyPr/>
                    <a:lstStyle/>
                    <a:p>
                      <a:endParaRPr dirty="0"/>
                    </a:p>
                  </a:txBody>
                  <a:tcPr marL="134837" marR="134837" marT="134837" marB="134837"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947379730"/>
                  </a:ext>
                </a:extLst>
              </a:tr>
              <a:tr h="669477">
                <a:tc>
                  <a:txBody>
                    <a:bodyPr/>
                    <a:lstStyle/>
                    <a:p>
                      <a:pPr>
                        <a:buNone/>
                      </a:pPr>
                      <a:r>
                        <a:rPr lang="en-GB" sz="2800" b="1" cap="none" spc="0" dirty="0">
                          <a:solidFill>
                            <a:schemeClr val="tx1"/>
                          </a:solidFill>
                        </a:rPr>
                        <a:t>Section 1</a:t>
                      </a:r>
                    </a:p>
                  </a:txBody>
                  <a:tcPr marL="134837" marR="134837" marT="134837" marB="13483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GB" sz="2800" cap="none" spc="0" dirty="0">
                          <a:solidFill>
                            <a:schemeClr val="tx1"/>
                          </a:solidFill>
                        </a:rPr>
                        <a:t>The Problem – overview of UK electricity networks</a:t>
                      </a:r>
                    </a:p>
                  </a:txBody>
                  <a:tcPr marL="134837" marR="134837" marT="134837" marB="13483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652643011"/>
                  </a:ext>
                </a:extLst>
              </a:tr>
              <a:tr h="669477">
                <a:tc>
                  <a:txBody>
                    <a:bodyPr/>
                    <a:lstStyle/>
                    <a:p>
                      <a:pPr>
                        <a:buNone/>
                      </a:pPr>
                      <a:r>
                        <a:rPr lang="en-GB" sz="2800" b="1" cap="none" spc="0" dirty="0">
                          <a:solidFill>
                            <a:schemeClr val="tx1"/>
                          </a:solidFill>
                        </a:rPr>
                        <a:t>Section 2</a:t>
                      </a:r>
                    </a:p>
                  </a:txBody>
                  <a:tcPr marL="134837" marR="134837" marT="134837" marB="13483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GB" sz="2800" cap="none" spc="0" dirty="0">
                          <a:solidFill>
                            <a:schemeClr val="tx1"/>
                          </a:solidFill>
                        </a:rPr>
                        <a:t>The Solution – our data analysis and model overview</a:t>
                      </a:r>
                    </a:p>
                  </a:txBody>
                  <a:tcPr marL="134837" marR="134837" marT="134837" marB="13483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925953791"/>
                  </a:ext>
                </a:extLst>
              </a:tr>
              <a:tr h="669477">
                <a:tc>
                  <a:txBody>
                    <a:bodyPr/>
                    <a:lstStyle/>
                    <a:p>
                      <a:pPr>
                        <a:buNone/>
                      </a:pPr>
                      <a:r>
                        <a:rPr lang="en-GB" sz="2800" b="1" cap="none" spc="0" dirty="0">
                          <a:solidFill>
                            <a:schemeClr val="tx1"/>
                          </a:solidFill>
                        </a:rPr>
                        <a:t>Section 3</a:t>
                      </a:r>
                    </a:p>
                  </a:txBody>
                  <a:tcPr marL="134837" marR="134837" marT="134837" marB="13483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GB" sz="2800" cap="none" spc="0" dirty="0">
                          <a:solidFill>
                            <a:schemeClr val="tx1"/>
                          </a:solidFill>
                        </a:rPr>
                        <a:t>Exploring the data – single GSP case study</a:t>
                      </a:r>
                    </a:p>
                  </a:txBody>
                  <a:tcPr marL="134837" marR="134837" marT="134837" marB="13483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362500406"/>
                  </a:ext>
                </a:extLst>
              </a:tr>
              <a:tr h="669477">
                <a:tc>
                  <a:txBody>
                    <a:bodyPr/>
                    <a:lstStyle/>
                    <a:p>
                      <a:pPr>
                        <a:buNone/>
                      </a:pPr>
                      <a:r>
                        <a:rPr lang="en-GB" sz="2800" b="1" cap="none" spc="0" dirty="0">
                          <a:solidFill>
                            <a:schemeClr val="tx1"/>
                          </a:solidFill>
                        </a:rPr>
                        <a:t>Section 4</a:t>
                      </a:r>
                    </a:p>
                  </a:txBody>
                  <a:tcPr marL="134837" marR="134837" marT="134837" marB="13483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GB" sz="2800" cap="none" spc="0" dirty="0">
                          <a:solidFill>
                            <a:schemeClr val="tx1"/>
                          </a:solidFill>
                        </a:rPr>
                        <a:t>Conclusions and next steps</a:t>
                      </a:r>
                    </a:p>
                  </a:txBody>
                  <a:tcPr marL="134837" marR="134837" marT="134837" marB="13483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953822387"/>
                  </a:ext>
                </a:extLst>
              </a:tr>
            </a:tbl>
          </a:graphicData>
        </a:graphic>
      </p:graphicFrame>
    </p:spTree>
    <p:extLst>
      <p:ext uri="{BB962C8B-B14F-4D97-AF65-F5344CB8AC3E}">
        <p14:creationId xmlns:p14="http://schemas.microsoft.com/office/powerpoint/2010/main" val="3177366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842261B7-FAAD-47CA-A9BE-38E09E2CC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a:xfrm>
            <a:off x="5002634" y="365760"/>
            <a:ext cx="5960334" cy="1325562"/>
          </a:xfrm>
        </p:spPr>
        <p:txBody>
          <a:bodyPr vert="horz" lIns="91440" tIns="45720" rIns="91440" bIns="45720" rtlCol="0" anchor="b">
            <a:normAutofit/>
          </a:bodyPr>
          <a:lstStyle/>
          <a:p>
            <a:r>
              <a:rPr lang="en-US" sz="3700" dirty="0"/>
              <a:t>1.0 The National Energy System Operator (NESO)</a:t>
            </a:r>
          </a:p>
        </p:txBody>
      </p:sp>
      <p:pic>
        <p:nvPicPr>
          <p:cNvPr id="2050" name="Picture 2" descr="National Energy System Operator - National Apprenticeship &amp; Education ...">
            <a:extLst>
              <a:ext uri="{FF2B5EF4-FFF2-40B4-BE49-F238E27FC236}">
                <a16:creationId xmlns:a16="http://schemas.microsoft.com/office/drawing/2014/main" id="{9FDA8F0F-D075-E016-1CCF-6D4435345C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941" r="31359" b="-2"/>
          <a:stretch>
            <a:fillRect/>
          </a:stretch>
        </p:blipFill>
        <p:spPr bwMode="auto">
          <a:xfrm>
            <a:off x="963232" y="973085"/>
            <a:ext cx="3411413" cy="4879075"/>
          </a:xfrm>
          <a:prstGeom prst="rect">
            <a:avLst/>
          </a:prstGeom>
          <a:noFill/>
          <a:extLst>
            <a:ext uri="{909E8E84-426E-40DD-AFC4-6F175D3DCCD1}">
              <a14:hiddenFill xmlns:a14="http://schemas.microsoft.com/office/drawing/2010/main">
                <a:solidFill>
                  <a:srgbClr val="FFFFFF"/>
                </a:solidFill>
              </a14:hiddenFill>
            </a:ext>
          </a:extLst>
        </p:spPr>
      </p:pic>
      <p:sp>
        <p:nvSpPr>
          <p:cNvPr id="2057" name="Rectangle 2056">
            <a:extLst>
              <a:ext uri="{FF2B5EF4-FFF2-40B4-BE49-F238E27FC236}">
                <a16:creationId xmlns:a16="http://schemas.microsoft.com/office/drawing/2014/main" id="{E6483AC0-E497-4F01-8CC9-9F3700296F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93" y="645106"/>
            <a:ext cx="4047462" cy="5527094"/>
          </a:xfrm>
          <a:prstGeom prst="rect">
            <a:avLst/>
          </a:prstGeom>
          <a:noFill/>
          <a:ln>
            <a:solidFill>
              <a:schemeClr val="tx1"/>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41D40DA3-0D3E-79D3-D576-A6C9ECFD404F}"/>
              </a:ext>
            </a:extLst>
          </p:cNvPr>
          <p:cNvSpPr>
            <a:spLocks noGrp="1"/>
          </p:cNvSpPr>
          <p:nvPr>
            <p:ph sz="half" idx="1"/>
          </p:nvPr>
        </p:nvSpPr>
        <p:spPr>
          <a:xfrm>
            <a:off x="5010694" y="1828800"/>
            <a:ext cx="5970167" cy="4351337"/>
          </a:xfrm>
        </p:spPr>
        <p:txBody>
          <a:bodyPr vert="horz" lIns="91440" tIns="45720" rIns="91440" bIns="45720" rtlCol="0">
            <a:normAutofit/>
          </a:bodyPr>
          <a:lstStyle/>
          <a:p>
            <a:r>
              <a:rPr lang="en-US"/>
              <a:t>The</a:t>
            </a:r>
            <a:r>
              <a:rPr lang="en-US" b="1"/>
              <a:t> </a:t>
            </a:r>
            <a:r>
              <a:rPr lang="en-US"/>
              <a:t>National Energy System Operator (</a:t>
            </a:r>
            <a:r>
              <a:rPr lang="en-US" b="1"/>
              <a:t>NESO</a:t>
            </a:r>
            <a:r>
              <a:rPr lang="en-US"/>
              <a:t>) is the independent public body responsible for keeping the lights on in Great Britain. </a:t>
            </a:r>
          </a:p>
          <a:p>
            <a:r>
              <a:rPr lang="en-US"/>
              <a:t>NESO’ core job is to match supply and demand on the national electricity grid, second by second, to keep the frequency at 50 Hz to avoid blackouts caused by over or under supply.</a:t>
            </a:r>
          </a:p>
          <a:p>
            <a:r>
              <a:rPr lang="en-US"/>
              <a:t>To facilitate this, throughout the day, NESO issues instructions on the</a:t>
            </a:r>
            <a:r>
              <a:rPr lang="en-US" b="1"/>
              <a:t> Balancing Mechanism (BM</a:t>
            </a:r>
            <a:r>
              <a:rPr lang="en-US"/>
              <a:t>) to large-scale generators and consumers, e.g, “increase output by 50 MW,” “decrease by 100 MW.”</a:t>
            </a:r>
          </a:p>
          <a:p>
            <a:endParaRPr lang="en-US"/>
          </a:p>
        </p:txBody>
      </p:sp>
    </p:spTree>
    <p:extLst>
      <p:ext uri="{BB962C8B-B14F-4D97-AF65-F5344CB8AC3E}">
        <p14:creationId xmlns:p14="http://schemas.microsoft.com/office/powerpoint/2010/main" val="497607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9EB79B-2753-15A7-A899-AE4381B8288B}"/>
            </a:ext>
          </a:extLst>
        </p:cNvPr>
        <p:cNvGrpSpPr/>
        <p:nvPr/>
      </p:nvGrpSpPr>
      <p:grpSpPr>
        <a:xfrm>
          <a:off x="0" y="0"/>
          <a:ext cx="0" cy="0"/>
          <a:chOff x="0" y="0"/>
          <a:chExt cx="0" cy="0"/>
        </a:xfrm>
      </p:grpSpPr>
      <p:sp>
        <p:nvSpPr>
          <p:cNvPr id="3079" name="Rectangle 3078">
            <a:extLst>
              <a:ext uri="{FF2B5EF4-FFF2-40B4-BE49-F238E27FC236}">
                <a16:creationId xmlns:a16="http://schemas.microsoft.com/office/drawing/2014/main" id="{842261B7-FAAD-47CA-A9BE-38E09E2CC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3D6DBC34-67CB-D36C-5B1E-E74F0F1E306A}"/>
              </a:ext>
            </a:extLst>
          </p:cNvPr>
          <p:cNvSpPr>
            <a:spLocks noGrp="1"/>
          </p:cNvSpPr>
          <p:nvPr>
            <p:ph type="title"/>
          </p:nvPr>
        </p:nvSpPr>
        <p:spPr>
          <a:xfrm>
            <a:off x="5002634" y="365760"/>
            <a:ext cx="5960334" cy="1325562"/>
          </a:xfrm>
        </p:spPr>
        <p:txBody>
          <a:bodyPr vert="horz" lIns="91440" tIns="45720" rIns="91440" bIns="45720" rtlCol="0" anchor="b">
            <a:normAutofit/>
          </a:bodyPr>
          <a:lstStyle/>
          <a:p>
            <a:r>
              <a:rPr lang="en-US" dirty="0"/>
              <a:t>1.2 The Balancing </a:t>
            </a:r>
            <a:r>
              <a:rPr lang="en-US" dirty="0" err="1"/>
              <a:t>Mechnism</a:t>
            </a:r>
            <a:r>
              <a:rPr lang="en-US" dirty="0"/>
              <a:t> (BM)</a:t>
            </a:r>
          </a:p>
        </p:txBody>
      </p:sp>
      <p:pic>
        <p:nvPicPr>
          <p:cNvPr id="3074" name="Picture 2" descr="NESO to relax Balancing Mechanism rules for aggregated small-scale ...">
            <a:extLst>
              <a:ext uri="{FF2B5EF4-FFF2-40B4-BE49-F238E27FC236}">
                <a16:creationId xmlns:a16="http://schemas.microsoft.com/office/drawing/2014/main" id="{F66A8607-7052-9013-0D9C-D2A4B6E139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757" r="44914" b="1"/>
          <a:stretch>
            <a:fillRect/>
          </a:stretch>
        </p:blipFill>
        <p:spPr bwMode="auto">
          <a:xfrm>
            <a:off x="963232" y="973085"/>
            <a:ext cx="3411413" cy="4879075"/>
          </a:xfrm>
          <a:prstGeom prst="rect">
            <a:avLst/>
          </a:prstGeom>
          <a:noFill/>
          <a:extLst>
            <a:ext uri="{909E8E84-426E-40DD-AFC4-6F175D3DCCD1}">
              <a14:hiddenFill xmlns:a14="http://schemas.microsoft.com/office/drawing/2010/main">
                <a:solidFill>
                  <a:srgbClr val="FFFFFF"/>
                </a:solidFill>
              </a14:hiddenFill>
            </a:ext>
          </a:extLst>
        </p:spPr>
      </p:pic>
      <p:sp>
        <p:nvSpPr>
          <p:cNvPr id="3081" name="Rectangle 3080">
            <a:extLst>
              <a:ext uri="{FF2B5EF4-FFF2-40B4-BE49-F238E27FC236}">
                <a16:creationId xmlns:a16="http://schemas.microsoft.com/office/drawing/2014/main" id="{E6483AC0-E497-4F01-8CC9-9F3700296F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93" y="645106"/>
            <a:ext cx="4047462" cy="5527094"/>
          </a:xfrm>
          <a:prstGeom prst="rect">
            <a:avLst/>
          </a:prstGeom>
          <a:noFill/>
          <a:ln>
            <a:solidFill>
              <a:schemeClr val="tx1"/>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E9D7C429-A35E-75EB-1588-D96A71A1A141}"/>
              </a:ext>
            </a:extLst>
          </p:cNvPr>
          <p:cNvSpPr>
            <a:spLocks noGrp="1"/>
          </p:cNvSpPr>
          <p:nvPr>
            <p:ph sz="half" idx="1"/>
          </p:nvPr>
        </p:nvSpPr>
        <p:spPr>
          <a:xfrm>
            <a:off x="5010694" y="1828800"/>
            <a:ext cx="5970167" cy="4351337"/>
          </a:xfrm>
        </p:spPr>
        <p:txBody>
          <a:bodyPr vert="horz" lIns="91440" tIns="45720" rIns="91440" bIns="45720" rtlCol="0">
            <a:normAutofit/>
          </a:bodyPr>
          <a:lstStyle/>
          <a:p>
            <a:r>
              <a:rPr lang="en-US" dirty="0"/>
              <a:t>The</a:t>
            </a:r>
            <a:r>
              <a:rPr lang="en-US" b="1" dirty="0"/>
              <a:t> </a:t>
            </a:r>
            <a:r>
              <a:rPr lang="en-US" dirty="0"/>
              <a:t>BM is the real time control room for NESO’s balancing instructions, which are shared publicly.</a:t>
            </a:r>
          </a:p>
          <a:p>
            <a:r>
              <a:rPr lang="en-GB" dirty="0"/>
              <a:t>Most energy trading happens in the day-ahead market, where participants buy and sell power for delivery tomorrow. But the day-ahead is based on forecasts—and forecasts are never perfect. The Balancing Mechanism handles reality: when wind drops unexpectedly or a plant trips offline, NESO buys or sells power in real time to keep frequency at 50 Hz.</a:t>
            </a:r>
          </a:p>
          <a:p>
            <a:r>
              <a:rPr lang="en-GB" dirty="0"/>
              <a:t>The increasing volume of generators connected to the Distribution Network makes NESO’s activities increasingly more challenging and essential to have accurate data sources and prediction</a:t>
            </a:r>
            <a:endParaRPr lang="en-US" dirty="0"/>
          </a:p>
        </p:txBody>
      </p:sp>
    </p:spTree>
    <p:extLst>
      <p:ext uri="{BB962C8B-B14F-4D97-AF65-F5344CB8AC3E}">
        <p14:creationId xmlns:p14="http://schemas.microsoft.com/office/powerpoint/2010/main" val="1765674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CCC029-DBEE-AA0E-9D2A-B8B4AFE7FA12}"/>
            </a:ext>
          </a:extLst>
        </p:cNvPr>
        <p:cNvGrpSpPr/>
        <p:nvPr/>
      </p:nvGrpSpPr>
      <p:grpSpPr>
        <a:xfrm>
          <a:off x="0" y="0"/>
          <a:ext cx="0" cy="0"/>
          <a:chOff x="0" y="0"/>
          <a:chExt cx="0" cy="0"/>
        </a:xfrm>
      </p:grpSpPr>
      <p:sp>
        <p:nvSpPr>
          <p:cNvPr id="1031" name="Rectangle 1030">
            <a:extLst>
              <a:ext uri="{FF2B5EF4-FFF2-40B4-BE49-F238E27FC236}">
                <a16:creationId xmlns:a16="http://schemas.microsoft.com/office/drawing/2014/main" id="{842261B7-FAAD-47CA-A9BE-38E09E2CC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ABE6900E-FA15-875A-2187-A91286084453}"/>
              </a:ext>
            </a:extLst>
          </p:cNvPr>
          <p:cNvSpPr>
            <a:spLocks noGrp="1"/>
          </p:cNvSpPr>
          <p:nvPr>
            <p:ph type="title"/>
          </p:nvPr>
        </p:nvSpPr>
        <p:spPr>
          <a:xfrm>
            <a:off x="5002634" y="365760"/>
            <a:ext cx="5960334" cy="1325562"/>
          </a:xfrm>
        </p:spPr>
        <p:txBody>
          <a:bodyPr vert="horz" lIns="91440" tIns="45720" rIns="91440" bIns="45720" rtlCol="0" anchor="b">
            <a:normAutofit/>
          </a:bodyPr>
          <a:lstStyle/>
          <a:p>
            <a:r>
              <a:rPr lang="en-US" dirty="0"/>
              <a:t>1.3 Electricity  Distribution Networks</a:t>
            </a:r>
          </a:p>
        </p:txBody>
      </p:sp>
      <p:pic>
        <p:nvPicPr>
          <p:cNvPr id="1026" name="Picture 2" descr="Power Lines Uk Map at Hazel Anderson blog">
            <a:extLst>
              <a:ext uri="{FF2B5EF4-FFF2-40B4-BE49-F238E27FC236}">
                <a16:creationId xmlns:a16="http://schemas.microsoft.com/office/drawing/2014/main" id="{54C10F53-730C-B009-473A-19E8ABBBB4A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l="1245" r="28838" b="3"/>
          <a:stretch>
            <a:fillRect/>
          </a:stretch>
        </p:blipFill>
        <p:spPr bwMode="auto">
          <a:xfrm>
            <a:off x="963232" y="973085"/>
            <a:ext cx="3411413" cy="4879075"/>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E6483AC0-E497-4F01-8CC9-9F3700296F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93" y="645106"/>
            <a:ext cx="4047462" cy="5527094"/>
          </a:xfrm>
          <a:prstGeom prst="rect">
            <a:avLst/>
          </a:prstGeom>
          <a:noFill/>
          <a:ln>
            <a:solidFill>
              <a:schemeClr val="tx1"/>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50975DCA-E802-F6F6-D864-6B33A660B526}"/>
              </a:ext>
            </a:extLst>
          </p:cNvPr>
          <p:cNvSpPr>
            <a:spLocks noGrp="1"/>
          </p:cNvSpPr>
          <p:nvPr>
            <p:ph sz="half" idx="2"/>
          </p:nvPr>
        </p:nvSpPr>
        <p:spPr>
          <a:xfrm>
            <a:off x="4992801" y="1828800"/>
            <a:ext cx="5970167" cy="4343400"/>
          </a:xfrm>
        </p:spPr>
        <p:txBody>
          <a:bodyPr vert="horz" lIns="91440" tIns="45720" rIns="91440" bIns="45720" rtlCol="0">
            <a:normAutofit/>
          </a:bodyPr>
          <a:lstStyle/>
          <a:p>
            <a:pPr marL="0">
              <a:buNone/>
            </a:pPr>
            <a:r>
              <a:rPr lang="en-US" sz="1200" b="1" dirty="0"/>
              <a:t>The Root of the Problem:</a:t>
            </a:r>
            <a:br>
              <a:rPr lang="en-US" sz="1200" b="1" dirty="0"/>
            </a:br>
            <a:br>
              <a:rPr lang="en-US" sz="1200" dirty="0"/>
            </a:br>
            <a:r>
              <a:rPr lang="en-US" sz="1200" dirty="0"/>
              <a:t>The UK national electricity grid network was originally designed in the 1950s for transporting electricity from traditional large scale base-load turbine generators connected to the transmission network (132kV and above) which subsequently supply the distribution network (132kV and below) to then feed our homes and businesses.</a:t>
            </a:r>
          </a:p>
          <a:p>
            <a:pPr marL="0">
              <a:buNone/>
            </a:pPr>
            <a:r>
              <a:rPr lang="en-US" sz="1200" dirty="0"/>
              <a:t>Solar and battery power plants tend to be much smaller than traditional turbines meaning they are connected at lower voltages directly to the distribution networks (132kV and below – i.e., embedded Generation):</a:t>
            </a:r>
          </a:p>
          <a:p>
            <a:r>
              <a:rPr lang="en-US" sz="1200" dirty="0"/>
              <a:t>This means electricity can now flow </a:t>
            </a:r>
            <a:r>
              <a:rPr lang="en-US" sz="1200" i="1" dirty="0"/>
              <a:t>upward</a:t>
            </a:r>
            <a:r>
              <a:rPr lang="en-US" sz="1200" dirty="0"/>
              <a:t>—from a solar array back into the distribution network, and onto the transmission grid. Which complicates NESO’s balancing because;</a:t>
            </a:r>
          </a:p>
          <a:p>
            <a:r>
              <a:rPr lang="en-US" sz="1200" dirty="0"/>
              <a:t>the system operator must now coordinate not just a few hundred large generators but potentially millions of small distributed sources, and crucially, NESO cannot directly see most behind-the-meter (embedded) generation, making demand forecasting significantly harder.</a:t>
            </a:r>
          </a:p>
        </p:txBody>
      </p:sp>
    </p:spTree>
    <p:extLst>
      <p:ext uri="{BB962C8B-B14F-4D97-AF65-F5344CB8AC3E}">
        <p14:creationId xmlns:p14="http://schemas.microsoft.com/office/powerpoint/2010/main" val="2659540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0D2A0-EA5E-1D9B-7EC9-9AC800D4C0E1}"/>
              </a:ext>
            </a:extLst>
          </p:cNvPr>
          <p:cNvSpPr>
            <a:spLocks noGrp="1"/>
          </p:cNvSpPr>
          <p:nvPr>
            <p:ph type="title"/>
          </p:nvPr>
        </p:nvSpPr>
        <p:spPr>
          <a:xfrm>
            <a:off x="450711" y="199575"/>
            <a:ext cx="9692640" cy="773819"/>
          </a:xfrm>
        </p:spPr>
        <p:txBody>
          <a:bodyPr/>
          <a:lstStyle/>
          <a:p>
            <a:r>
              <a:rPr lang="en-GB" dirty="0"/>
              <a:t>1.4 GSP Embedded Solar Capacity</a:t>
            </a:r>
          </a:p>
        </p:txBody>
      </p:sp>
      <p:pic>
        <p:nvPicPr>
          <p:cNvPr id="6" name="Picture 5">
            <a:extLst>
              <a:ext uri="{FF2B5EF4-FFF2-40B4-BE49-F238E27FC236}">
                <a16:creationId xmlns:a16="http://schemas.microsoft.com/office/drawing/2014/main" id="{05C0D5EA-4B12-9E75-C267-2787F569D617}"/>
              </a:ext>
            </a:extLst>
          </p:cNvPr>
          <p:cNvPicPr>
            <a:picLocks noChangeAspect="1"/>
          </p:cNvPicPr>
          <p:nvPr/>
        </p:nvPicPr>
        <p:blipFill>
          <a:blip r:embed="rId2"/>
          <a:stretch>
            <a:fillRect/>
          </a:stretch>
        </p:blipFill>
        <p:spPr>
          <a:xfrm>
            <a:off x="3944456" y="973394"/>
            <a:ext cx="7161080" cy="5523564"/>
          </a:xfrm>
          <a:prstGeom prst="rect">
            <a:avLst/>
          </a:prstGeom>
        </p:spPr>
      </p:pic>
      <p:sp>
        <p:nvSpPr>
          <p:cNvPr id="8" name="TextBox 7">
            <a:extLst>
              <a:ext uri="{FF2B5EF4-FFF2-40B4-BE49-F238E27FC236}">
                <a16:creationId xmlns:a16="http://schemas.microsoft.com/office/drawing/2014/main" id="{2D3A1E08-1FA9-6E6C-873F-BE4C9C0D8394}"/>
              </a:ext>
            </a:extLst>
          </p:cNvPr>
          <p:cNvSpPr txBox="1"/>
          <p:nvPr/>
        </p:nvSpPr>
        <p:spPr>
          <a:xfrm>
            <a:off x="450711" y="1196019"/>
            <a:ext cx="3493745" cy="4770537"/>
          </a:xfrm>
          <a:prstGeom prst="rect">
            <a:avLst/>
          </a:prstGeom>
          <a:noFill/>
        </p:spPr>
        <p:txBody>
          <a:bodyPr wrap="square">
            <a:spAutoFit/>
          </a:bodyPr>
          <a:lstStyle/>
          <a:p>
            <a:pPr algn="l">
              <a:buNone/>
            </a:pPr>
            <a:r>
              <a:rPr lang="en-GB" sz="1600" b="1" i="0" dirty="0">
                <a:solidFill>
                  <a:srgbClr val="FAFAFA"/>
                </a:solidFill>
                <a:effectLst/>
              </a:rPr>
              <a:t>UK Embedded Solar Capacity Over Time:</a:t>
            </a:r>
          </a:p>
          <a:p>
            <a:pPr algn="l">
              <a:buNone/>
            </a:pPr>
            <a:endParaRPr lang="en-GB" sz="1600" b="0" i="0" dirty="0">
              <a:solidFill>
                <a:srgbClr val="FAFAFA"/>
              </a:solidFill>
              <a:effectLst/>
            </a:endParaRPr>
          </a:p>
          <a:p>
            <a:pPr algn="l">
              <a:buNone/>
            </a:pPr>
            <a:r>
              <a:rPr lang="en-GB" sz="1600" b="0" i="0" dirty="0">
                <a:solidFill>
                  <a:srgbClr val="FAFAFA"/>
                </a:solidFill>
                <a:effectLst/>
              </a:rPr>
              <a:t>Significant growth of solar capacity over the past 15 years was driven initially by the Feed-in-Tariff (FiT) subsidy scheme from 2010 to 2015 with later growth marked by the reducing cost of building and maintaining solar, making it now one of the cheapest forms of producing electricity. </a:t>
            </a:r>
          </a:p>
          <a:p>
            <a:pPr algn="l">
              <a:buNone/>
            </a:pPr>
            <a:endParaRPr lang="en-GB" sz="1600" dirty="0">
              <a:solidFill>
                <a:srgbClr val="FAFAFA"/>
              </a:solidFill>
            </a:endParaRPr>
          </a:p>
          <a:p>
            <a:pPr algn="l">
              <a:buNone/>
            </a:pPr>
            <a:r>
              <a:rPr lang="en-GB" sz="1600" b="0" i="0" dirty="0">
                <a:solidFill>
                  <a:srgbClr val="FAFAFA"/>
                </a:solidFill>
                <a:effectLst/>
              </a:rPr>
              <a:t>The latest challenge faced by the industry is now caused by an over-congested UK electricity grid network. Particularly for larger installations which are struggling to find capacity on the network.</a:t>
            </a:r>
          </a:p>
        </p:txBody>
      </p:sp>
    </p:spTree>
    <p:extLst>
      <p:ext uri="{BB962C8B-B14F-4D97-AF65-F5344CB8AC3E}">
        <p14:creationId xmlns:p14="http://schemas.microsoft.com/office/powerpoint/2010/main" val="291884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34F1EE-A363-BBFC-549A-21F029F967E9}"/>
              </a:ext>
            </a:extLst>
          </p:cNvPr>
          <p:cNvPicPr>
            <a:picLocks noChangeAspect="1"/>
          </p:cNvPicPr>
          <p:nvPr/>
        </p:nvPicPr>
        <p:blipFill>
          <a:blip r:embed="rId2"/>
          <a:stretch>
            <a:fillRect/>
          </a:stretch>
        </p:blipFill>
        <p:spPr>
          <a:xfrm>
            <a:off x="4129548" y="1212986"/>
            <a:ext cx="7092404" cy="4747670"/>
          </a:xfrm>
          <a:prstGeom prst="rect">
            <a:avLst/>
          </a:prstGeom>
        </p:spPr>
      </p:pic>
      <p:sp>
        <p:nvSpPr>
          <p:cNvPr id="5" name="Title 1">
            <a:extLst>
              <a:ext uri="{FF2B5EF4-FFF2-40B4-BE49-F238E27FC236}">
                <a16:creationId xmlns:a16="http://schemas.microsoft.com/office/drawing/2014/main" id="{EDB9D38A-A6EE-B7FE-27E0-66F05EF7E955}"/>
              </a:ext>
            </a:extLst>
          </p:cNvPr>
          <p:cNvSpPr>
            <a:spLocks noGrp="1"/>
          </p:cNvSpPr>
          <p:nvPr>
            <p:ph type="title"/>
          </p:nvPr>
        </p:nvSpPr>
        <p:spPr>
          <a:xfrm>
            <a:off x="450711" y="199575"/>
            <a:ext cx="9692640" cy="773819"/>
          </a:xfrm>
        </p:spPr>
        <p:txBody>
          <a:bodyPr/>
          <a:lstStyle/>
          <a:p>
            <a:r>
              <a:rPr lang="en-GB" dirty="0"/>
              <a:t>1.5 GSP Embedded Solar Capacity</a:t>
            </a:r>
          </a:p>
        </p:txBody>
      </p:sp>
      <p:sp>
        <p:nvSpPr>
          <p:cNvPr id="7" name="TextBox 6">
            <a:extLst>
              <a:ext uri="{FF2B5EF4-FFF2-40B4-BE49-F238E27FC236}">
                <a16:creationId xmlns:a16="http://schemas.microsoft.com/office/drawing/2014/main" id="{EE09C74F-7885-BCD6-9FD7-D0B50964E0FA}"/>
              </a:ext>
            </a:extLst>
          </p:cNvPr>
          <p:cNvSpPr txBox="1"/>
          <p:nvPr/>
        </p:nvSpPr>
        <p:spPr>
          <a:xfrm>
            <a:off x="265471" y="1240770"/>
            <a:ext cx="3864077" cy="5047536"/>
          </a:xfrm>
          <a:prstGeom prst="rect">
            <a:avLst/>
          </a:prstGeom>
          <a:noFill/>
        </p:spPr>
        <p:txBody>
          <a:bodyPr wrap="square">
            <a:spAutoFit/>
          </a:bodyPr>
          <a:lstStyle/>
          <a:p>
            <a:r>
              <a:rPr lang="en-GB" sz="1400" dirty="0"/>
              <a:t>Bar Graph Showing New Installed Solar Capacity by Year:</a:t>
            </a:r>
          </a:p>
          <a:p>
            <a:endParaRPr lang="en-GB" sz="1400" dirty="0"/>
          </a:p>
          <a:p>
            <a:r>
              <a:rPr lang="en-GB" sz="1400" dirty="0"/>
              <a:t>Major capacity gains were initially seen in 2011 following the launch of the FiT scheme in 2010 with a slight reduction in 2012 caused by reducing FiT support rates.</a:t>
            </a:r>
          </a:p>
          <a:p>
            <a:endParaRPr lang="en-GB" sz="1400" dirty="0"/>
          </a:p>
          <a:p>
            <a:r>
              <a:rPr lang="en-GB" sz="1400" dirty="0"/>
              <a:t>Further growth to 2015 is seen as economies of scale drove down manufacturing costs granting viability for larger projects supported by the Renewable Obligation Certification (ROC). ROCs, however, were subsequently restricted to only new solar projects below 5MW in 2015, </a:t>
            </a:r>
            <a:r>
              <a:rPr lang="en-GB" sz="1400" dirty="0" err="1"/>
              <a:t>hecne</a:t>
            </a:r>
            <a:r>
              <a:rPr lang="en-GB" sz="1400" dirty="0"/>
              <a:t> the 2016 downward trend. </a:t>
            </a:r>
          </a:p>
          <a:p>
            <a:endParaRPr lang="en-GB" sz="1400" dirty="0"/>
          </a:p>
          <a:p>
            <a:r>
              <a:rPr lang="en-GB" sz="1400" dirty="0"/>
              <a:t>From 2020 onwards capacity growth is purely subsidy-free given the complete closure of the FiT and ROC schemes for all new solar in 2019 and 2017, respectively. We note a recent tailing-off of new capacity as the grid becomes more congested.</a:t>
            </a:r>
          </a:p>
        </p:txBody>
      </p:sp>
    </p:spTree>
    <p:extLst>
      <p:ext uri="{BB962C8B-B14F-4D97-AF65-F5344CB8AC3E}">
        <p14:creationId xmlns:p14="http://schemas.microsoft.com/office/powerpoint/2010/main" val="2951981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5544C5F-0163-48BD-8D7E-C2DDFE20FB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F8E10561-9E76-FF0F-675F-F2C0DBE0C562}"/>
              </a:ext>
            </a:extLst>
          </p:cNvPr>
          <p:cNvSpPr>
            <a:spLocks noGrp="1"/>
          </p:cNvSpPr>
          <p:nvPr>
            <p:ph type="title"/>
          </p:nvPr>
        </p:nvSpPr>
        <p:spPr>
          <a:xfrm>
            <a:off x="5137942" y="218276"/>
            <a:ext cx="6154898" cy="887307"/>
          </a:xfrm>
        </p:spPr>
        <p:txBody>
          <a:bodyPr vert="horz" lIns="91440" tIns="45720" rIns="91440" bIns="45720" rtlCol="0" anchor="b">
            <a:normAutofit/>
          </a:bodyPr>
          <a:lstStyle/>
          <a:p>
            <a:r>
              <a:rPr lang="en-US" sz="3200" dirty="0"/>
              <a:t>1.6 Grid Supply Points (GSPs)</a:t>
            </a:r>
          </a:p>
        </p:txBody>
      </p:sp>
      <p:pic>
        <p:nvPicPr>
          <p:cNvPr id="5" name="Content Placeholder 4" descr="Stock market finance account report chart value">
            <a:extLst>
              <a:ext uri="{FF2B5EF4-FFF2-40B4-BE49-F238E27FC236}">
                <a16:creationId xmlns:a16="http://schemas.microsoft.com/office/drawing/2014/main" id="{E9A6FC28-5897-41EB-A1D1-B0FEDC728502}"/>
              </a:ext>
            </a:extLst>
          </p:cNvPr>
          <p:cNvPicPr>
            <a:picLocks noGrp="1" noChangeAspect="1"/>
          </p:cNvPicPr>
          <p:nvPr>
            <p:ph sz="half" idx="1"/>
          </p:nvPr>
        </p:nvPicPr>
        <p:blipFill>
          <a:blip r:embed="rId3"/>
          <a:srcRect t="1833" r="-2" b="-2"/>
          <a:stretch>
            <a:fillRect/>
          </a:stretch>
        </p:blipFill>
        <p:spPr>
          <a:xfrm>
            <a:off x="20" y="10"/>
            <a:ext cx="4653291" cy="2615174"/>
          </a:xfrm>
          <a:prstGeom prst="rect">
            <a:avLst/>
          </a:prstGeom>
        </p:spPr>
      </p:pic>
      <p:pic>
        <p:nvPicPr>
          <p:cNvPr id="11" name="Picture 10">
            <a:extLst>
              <a:ext uri="{FF2B5EF4-FFF2-40B4-BE49-F238E27FC236}">
                <a16:creationId xmlns:a16="http://schemas.microsoft.com/office/drawing/2014/main" id="{B3AD2FD6-1116-4642-6DE4-93E0B98D148F}"/>
              </a:ext>
            </a:extLst>
          </p:cNvPr>
          <p:cNvPicPr>
            <a:picLocks noChangeAspect="1"/>
          </p:cNvPicPr>
          <p:nvPr/>
        </p:nvPicPr>
        <p:blipFill>
          <a:blip r:embed="rId4"/>
          <a:srcRect b="5416"/>
          <a:stretch>
            <a:fillRect/>
          </a:stretch>
        </p:blipFill>
        <p:spPr>
          <a:xfrm>
            <a:off x="1972" y="2776050"/>
            <a:ext cx="4651339" cy="4081949"/>
          </a:xfrm>
          <a:prstGeom prst="rect">
            <a:avLst/>
          </a:prstGeom>
        </p:spPr>
      </p:pic>
      <p:sp>
        <p:nvSpPr>
          <p:cNvPr id="12" name="Content Placeholder 3">
            <a:extLst>
              <a:ext uri="{FF2B5EF4-FFF2-40B4-BE49-F238E27FC236}">
                <a16:creationId xmlns:a16="http://schemas.microsoft.com/office/drawing/2014/main" id="{A7FF1EE6-5CE2-925E-80E8-951B28576F2A}"/>
              </a:ext>
            </a:extLst>
          </p:cNvPr>
          <p:cNvSpPr>
            <a:spLocks noGrp="1"/>
          </p:cNvSpPr>
          <p:nvPr>
            <p:ph sz="half" idx="2"/>
          </p:nvPr>
        </p:nvSpPr>
        <p:spPr>
          <a:xfrm>
            <a:off x="5137942" y="1563329"/>
            <a:ext cx="5970167" cy="4343400"/>
          </a:xfrm>
        </p:spPr>
        <p:txBody>
          <a:bodyPr vert="horz" lIns="91440" tIns="45720" rIns="91440" bIns="45720" rtlCol="0">
            <a:normAutofit/>
          </a:bodyPr>
          <a:lstStyle/>
          <a:p>
            <a:pPr marL="0">
              <a:buNone/>
            </a:pPr>
            <a:r>
              <a:rPr lang="en-US" sz="2000" b="1" dirty="0"/>
              <a:t>GSPs are essentially large-scale substations which act as nodes which intersect between the Distribution and Transmission networks, and;</a:t>
            </a:r>
          </a:p>
          <a:p>
            <a:r>
              <a:rPr lang="en-US" sz="2000" b="1" dirty="0"/>
              <a:t>Most UK solar projects are connected </a:t>
            </a:r>
            <a:r>
              <a:rPr lang="en-US" sz="2000" b="1" i="1" dirty="0"/>
              <a:t>downstream</a:t>
            </a:r>
            <a:r>
              <a:rPr lang="en-US" sz="2000" b="1" dirty="0"/>
              <a:t> of a single GSP.</a:t>
            </a:r>
          </a:p>
          <a:p>
            <a:r>
              <a:rPr lang="en-US" sz="2000" b="1" dirty="0"/>
              <a:t>This includes small scale 4kW home installations and large-scale solar farms of up to hundreds of MWs.</a:t>
            </a:r>
          </a:p>
          <a:p>
            <a:r>
              <a:rPr lang="en-US" sz="2000" b="1" dirty="0"/>
              <a:t>This project aims to predict the solar generation connected downstream of 289 GSPs across the country.</a:t>
            </a:r>
            <a:endParaRPr lang="en-US" sz="2000" dirty="0"/>
          </a:p>
        </p:txBody>
      </p:sp>
    </p:spTree>
    <p:extLst>
      <p:ext uri="{BB962C8B-B14F-4D97-AF65-F5344CB8AC3E}">
        <p14:creationId xmlns:p14="http://schemas.microsoft.com/office/powerpoint/2010/main" val="426361206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3460F-A84A-45A2-5A70-D69BE6DEA8DA}"/>
              </a:ext>
            </a:extLst>
          </p:cNvPr>
          <p:cNvSpPr>
            <a:spLocks noGrp="1"/>
          </p:cNvSpPr>
          <p:nvPr>
            <p:ph type="title"/>
          </p:nvPr>
        </p:nvSpPr>
        <p:spPr>
          <a:xfrm>
            <a:off x="539200" y="486134"/>
            <a:ext cx="9692640" cy="1325562"/>
          </a:xfrm>
        </p:spPr>
        <p:txBody>
          <a:bodyPr/>
          <a:lstStyle/>
          <a:p>
            <a:r>
              <a:rPr lang="en-GB" dirty="0"/>
              <a:t>The Question:</a:t>
            </a:r>
          </a:p>
        </p:txBody>
      </p:sp>
      <p:sp>
        <p:nvSpPr>
          <p:cNvPr id="3" name="Content Placeholder 2">
            <a:extLst>
              <a:ext uri="{FF2B5EF4-FFF2-40B4-BE49-F238E27FC236}">
                <a16:creationId xmlns:a16="http://schemas.microsoft.com/office/drawing/2014/main" id="{796826B3-5996-AA4C-7E9E-09614B7FC030}"/>
              </a:ext>
            </a:extLst>
          </p:cNvPr>
          <p:cNvSpPr>
            <a:spLocks noGrp="1"/>
          </p:cNvSpPr>
          <p:nvPr>
            <p:ph idx="1"/>
          </p:nvPr>
        </p:nvSpPr>
        <p:spPr>
          <a:xfrm>
            <a:off x="539200" y="2020529"/>
            <a:ext cx="10282575" cy="4351337"/>
          </a:xfrm>
        </p:spPr>
        <p:txBody>
          <a:bodyPr/>
          <a:lstStyle/>
          <a:p>
            <a:r>
              <a:rPr lang="en-GB" sz="2800" dirty="0"/>
              <a:t>Can we extract, clean, visualise, and forecast the embedded solar generation for GSPs in the UK with sufficient accuracy to support NESO’s instructions in the BM?</a:t>
            </a:r>
          </a:p>
          <a:p>
            <a:r>
              <a:rPr lang="en-GB" sz="2800" dirty="0"/>
              <a:t>The purpose is to increase the operating efficiency of the network by reducing redundancy  in decision-making and create savings which flow down to UK consumers.</a:t>
            </a:r>
            <a:endParaRPr lang="en-GB" dirty="0"/>
          </a:p>
        </p:txBody>
      </p:sp>
    </p:spTree>
    <p:extLst>
      <p:ext uri="{BB962C8B-B14F-4D97-AF65-F5344CB8AC3E}">
        <p14:creationId xmlns:p14="http://schemas.microsoft.com/office/powerpoint/2010/main" val="3240610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Content Placeholder 4" descr="Digital Numbers">
            <a:extLst>
              <a:ext uri="{FF2B5EF4-FFF2-40B4-BE49-F238E27FC236}">
                <a16:creationId xmlns:a16="http://schemas.microsoft.com/office/drawing/2014/main" id="{EA70616B-E344-4856-8DF9-707C2623661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0681" r="9091" b="12711"/>
          <a:stretch/>
        </p:blipFill>
        <p:spPr>
          <a:xfrm>
            <a:off x="20" y="0"/>
            <a:ext cx="12191980" cy="6857990"/>
          </a:xfrm>
          <a:prstGeom prst="rect">
            <a:avLst/>
          </a:prstGeom>
        </p:spPr>
      </p:pic>
      <p:graphicFrame>
        <p:nvGraphicFramePr>
          <p:cNvPr id="12" name="Diagram 11">
            <a:extLst>
              <a:ext uri="{FF2B5EF4-FFF2-40B4-BE49-F238E27FC236}">
                <a16:creationId xmlns:a16="http://schemas.microsoft.com/office/drawing/2014/main" id="{C538149B-35A8-3FDD-F655-69C12E0CAC46}"/>
              </a:ext>
            </a:extLst>
          </p:cNvPr>
          <p:cNvGraphicFramePr/>
          <p:nvPr>
            <p:extLst>
              <p:ext uri="{D42A27DB-BD31-4B8C-83A1-F6EECF244321}">
                <p14:modId xmlns:p14="http://schemas.microsoft.com/office/powerpoint/2010/main" val="3221412239"/>
              </p:ext>
            </p:extLst>
          </p:nvPr>
        </p:nvGraphicFramePr>
        <p:xfrm>
          <a:off x="3013067" y="580193"/>
          <a:ext cx="10456605" cy="569760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3" name="Title 1">
            <a:extLst>
              <a:ext uri="{FF2B5EF4-FFF2-40B4-BE49-F238E27FC236}">
                <a16:creationId xmlns:a16="http://schemas.microsoft.com/office/drawing/2014/main" id="{BC34CB4B-464D-826E-C399-E06977B0DA98}"/>
              </a:ext>
            </a:extLst>
          </p:cNvPr>
          <p:cNvSpPr>
            <a:spLocks noGrp="1"/>
          </p:cNvSpPr>
          <p:nvPr>
            <p:ph type="title"/>
          </p:nvPr>
        </p:nvSpPr>
        <p:spPr>
          <a:xfrm>
            <a:off x="1356350" y="580193"/>
            <a:ext cx="5344334" cy="880182"/>
          </a:xfrm>
        </p:spPr>
        <p:txBody>
          <a:bodyPr vert="horz" lIns="91440" tIns="45720" rIns="91440" bIns="45720" rtlCol="0" anchor="b">
            <a:normAutofit/>
          </a:bodyPr>
          <a:lstStyle/>
          <a:p>
            <a:r>
              <a:rPr lang="en-US" dirty="0"/>
              <a:t>2.0 The Dashboard</a:t>
            </a:r>
          </a:p>
        </p:txBody>
      </p:sp>
    </p:spTree>
    <p:extLst>
      <p:ext uri="{BB962C8B-B14F-4D97-AF65-F5344CB8AC3E}">
        <p14:creationId xmlns:p14="http://schemas.microsoft.com/office/powerpoint/2010/main" val="4209322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658260" y="586994"/>
            <a:ext cx="3489363" cy="718870"/>
          </a:xfrm>
        </p:spPr>
        <p:txBody>
          <a:bodyPr>
            <a:normAutofit fontScale="90000"/>
          </a:bodyPr>
          <a:lstStyle/>
          <a:p>
            <a:r>
              <a:rPr lang="en-US" dirty="0">
                <a:solidFill>
                  <a:srgbClr val="FFFEFF"/>
                </a:solidFill>
              </a:rPr>
              <a:t>2.1 Data Flow</a:t>
            </a:r>
          </a:p>
        </p:txBody>
      </p:sp>
      <p:graphicFrame>
        <p:nvGraphicFramePr>
          <p:cNvPr id="4" name="Content Placeholder 3" descr="icon SmartArt graphic">
            <a:extLst>
              <a:ext uri="{FF2B5EF4-FFF2-40B4-BE49-F238E27FC236}">
                <a16:creationId xmlns:a16="http://schemas.microsoft.com/office/drawing/2014/main" id="{81E592E1-99DF-4294-A2E9-EF46299BD3F4}"/>
              </a:ext>
            </a:extLst>
          </p:cNvPr>
          <p:cNvGraphicFramePr>
            <a:graphicFrameLocks noGrp="1"/>
          </p:cNvGraphicFramePr>
          <p:nvPr>
            <p:ph idx="1"/>
            <p:extLst>
              <p:ext uri="{D42A27DB-BD31-4B8C-83A1-F6EECF244321}">
                <p14:modId xmlns:p14="http://schemas.microsoft.com/office/powerpoint/2010/main" val="392105732"/>
              </p:ext>
            </p:extLst>
          </p:nvPr>
        </p:nvGraphicFramePr>
        <p:xfrm>
          <a:off x="3116578" y="384722"/>
          <a:ext cx="9075422" cy="18422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6E5A29A0-4DB8-CD3B-6F67-070DC0A0738F}"/>
              </a:ext>
            </a:extLst>
          </p:cNvPr>
          <p:cNvSpPr txBox="1"/>
          <p:nvPr/>
        </p:nvSpPr>
        <p:spPr>
          <a:xfrm>
            <a:off x="761499" y="2612988"/>
            <a:ext cx="10004824" cy="3693319"/>
          </a:xfrm>
          <a:prstGeom prst="rect">
            <a:avLst/>
          </a:prstGeom>
          <a:solidFill>
            <a:schemeClr val="bg1"/>
          </a:solidFill>
        </p:spPr>
        <p:txBody>
          <a:bodyPr wrap="square" rtlCol="0">
            <a:spAutoFit/>
          </a:bodyPr>
          <a:lstStyle/>
          <a:p>
            <a:r>
              <a:rPr lang="en-GB" dirty="0"/>
              <a:t>The dashboard connects to two endpoints from the </a:t>
            </a:r>
            <a:r>
              <a:rPr lang="en-GB" dirty="0">
                <a:hlinkClick r:id="rId8"/>
              </a:rPr>
              <a:t>Sheffield Solar </a:t>
            </a:r>
            <a:r>
              <a:rPr lang="en-GB" dirty="0" err="1">
                <a:hlinkClick r:id="rId8"/>
              </a:rPr>
              <a:t>PVLive</a:t>
            </a:r>
            <a:r>
              <a:rPr lang="en-GB" dirty="0">
                <a:hlinkClick r:id="rId8"/>
              </a:rPr>
              <a:t> API </a:t>
            </a:r>
            <a:r>
              <a:rPr lang="en-GB" dirty="0"/>
              <a:t>to extract:</a:t>
            </a:r>
          </a:p>
          <a:p>
            <a:endParaRPr lang="en-GB" dirty="0"/>
          </a:p>
          <a:p>
            <a:pPr marL="342900" indent="-342900">
              <a:buFont typeface="+mj-lt"/>
              <a:buAutoNum type="arabicPeriod"/>
            </a:pPr>
            <a:r>
              <a:rPr lang="en-GB" dirty="0"/>
              <a:t>Cumulative solar capacity (MWp), and;</a:t>
            </a:r>
          </a:p>
          <a:p>
            <a:pPr marL="342900" indent="-342900">
              <a:buFont typeface="+mj-lt"/>
              <a:buAutoNum type="arabicPeriod"/>
            </a:pPr>
            <a:r>
              <a:rPr lang="en-GB" dirty="0"/>
              <a:t>Historic solar generation (MWh).</a:t>
            </a:r>
          </a:p>
          <a:p>
            <a:endParaRPr lang="en-GB" dirty="0"/>
          </a:p>
          <a:p>
            <a:r>
              <a:rPr lang="en-GB" dirty="0"/>
              <a:t>It then matches GSP IDs to their geo-locations sourced from the:</a:t>
            </a:r>
            <a:endParaRPr lang="en-GB" dirty="0">
              <a:hlinkClick r:id="rId9"/>
            </a:endParaRPr>
          </a:p>
          <a:p>
            <a:pPr marL="285750" indent="-285750">
              <a:buFont typeface="Arial" panose="020B0604020202020204" pitchFamily="34" charset="0"/>
              <a:buChar char="•"/>
            </a:pPr>
            <a:r>
              <a:rPr lang="en-GB" dirty="0">
                <a:hlinkClick r:id="rId9"/>
              </a:rPr>
              <a:t>NESOs website</a:t>
            </a:r>
            <a:r>
              <a:rPr lang="en-GB" dirty="0"/>
              <a:t>,</a:t>
            </a:r>
          </a:p>
          <a:p>
            <a:r>
              <a:rPr lang="en-GB" dirty="0"/>
              <a:t>and (using the location of the selected GSP) pulls localised historic hourly weather data from:</a:t>
            </a:r>
          </a:p>
          <a:p>
            <a:pPr marL="285750" indent="-285750">
              <a:buFont typeface="Arial" panose="020B0604020202020204" pitchFamily="34" charset="0"/>
              <a:buChar char="•"/>
            </a:pPr>
            <a:r>
              <a:rPr lang="en-GB" dirty="0">
                <a:hlinkClick r:id="rId10"/>
              </a:rPr>
              <a:t>Open </a:t>
            </a:r>
            <a:r>
              <a:rPr lang="en-GB" dirty="0" err="1">
                <a:hlinkClick r:id="rId10"/>
              </a:rPr>
              <a:t>meteo</a:t>
            </a:r>
            <a:r>
              <a:rPr lang="en-GB" dirty="0">
                <a:hlinkClick r:id="rId10"/>
              </a:rPr>
              <a:t> historical weather</a:t>
            </a:r>
            <a:endParaRPr lang="en-GB" dirty="0"/>
          </a:p>
          <a:p>
            <a:r>
              <a:rPr lang="en-GB" dirty="0"/>
              <a:t>then trains, fits and predicts with a machine learning model based on selected solar and weather data profiles.</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1703342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9E85E-6E62-5BBC-7F3A-54F07BDC3CD0}"/>
              </a:ext>
            </a:extLst>
          </p:cNvPr>
          <p:cNvSpPr>
            <a:spLocks noGrp="1"/>
          </p:cNvSpPr>
          <p:nvPr>
            <p:ph type="title"/>
          </p:nvPr>
        </p:nvSpPr>
        <p:spPr>
          <a:xfrm>
            <a:off x="427705" y="365760"/>
            <a:ext cx="10261338" cy="696124"/>
          </a:xfrm>
        </p:spPr>
        <p:txBody>
          <a:bodyPr/>
          <a:lstStyle/>
          <a:p>
            <a:r>
              <a:rPr lang="en-GB" dirty="0"/>
              <a:t>3.0 Case Study – Newton Stewart GSP</a:t>
            </a:r>
          </a:p>
        </p:txBody>
      </p:sp>
      <p:pic>
        <p:nvPicPr>
          <p:cNvPr id="4" name="Picture 3">
            <a:extLst>
              <a:ext uri="{FF2B5EF4-FFF2-40B4-BE49-F238E27FC236}">
                <a16:creationId xmlns:a16="http://schemas.microsoft.com/office/drawing/2014/main" id="{F499FF25-352C-104F-99E9-12D516D53F78}"/>
              </a:ext>
            </a:extLst>
          </p:cNvPr>
          <p:cNvPicPr>
            <a:picLocks noChangeAspect="1"/>
          </p:cNvPicPr>
          <p:nvPr/>
        </p:nvPicPr>
        <p:blipFill>
          <a:blip r:embed="rId3"/>
          <a:stretch>
            <a:fillRect/>
          </a:stretch>
        </p:blipFill>
        <p:spPr>
          <a:xfrm>
            <a:off x="4213947" y="1604962"/>
            <a:ext cx="6993422" cy="4781471"/>
          </a:xfrm>
          <a:prstGeom prst="rect">
            <a:avLst/>
          </a:prstGeom>
        </p:spPr>
      </p:pic>
      <p:sp>
        <p:nvSpPr>
          <p:cNvPr id="9" name="TextBox 8">
            <a:extLst>
              <a:ext uri="{FF2B5EF4-FFF2-40B4-BE49-F238E27FC236}">
                <a16:creationId xmlns:a16="http://schemas.microsoft.com/office/drawing/2014/main" id="{A8BA967F-1F9F-8FBB-3D35-3DA213D5434E}"/>
              </a:ext>
            </a:extLst>
          </p:cNvPr>
          <p:cNvSpPr txBox="1"/>
          <p:nvPr/>
        </p:nvSpPr>
        <p:spPr>
          <a:xfrm>
            <a:off x="427705" y="1238864"/>
            <a:ext cx="3598356" cy="5016758"/>
          </a:xfrm>
          <a:prstGeom prst="rect">
            <a:avLst/>
          </a:prstGeom>
          <a:noFill/>
        </p:spPr>
        <p:txBody>
          <a:bodyPr wrap="square">
            <a:spAutoFit/>
          </a:bodyPr>
          <a:lstStyle/>
          <a:p>
            <a:pPr algn="l">
              <a:buNone/>
            </a:pPr>
            <a:r>
              <a:rPr lang="en-GB" sz="1600" b="1" i="0" dirty="0">
                <a:solidFill>
                  <a:srgbClr val="FAFAFA"/>
                </a:solidFill>
                <a:effectLst/>
              </a:rPr>
              <a:t>Daily Solar Generation vs. Predictions:</a:t>
            </a:r>
          </a:p>
          <a:p>
            <a:pPr algn="l">
              <a:buNone/>
            </a:pPr>
            <a:endParaRPr lang="en-GB" sz="1600" b="0" i="0" dirty="0">
              <a:solidFill>
                <a:srgbClr val="FAFAFA"/>
              </a:solidFill>
              <a:effectLst/>
            </a:endParaRPr>
          </a:p>
          <a:p>
            <a:pPr algn="l">
              <a:buNone/>
            </a:pPr>
            <a:r>
              <a:rPr lang="en-GB" sz="1600" dirty="0">
                <a:solidFill>
                  <a:srgbClr val="FAFAFA"/>
                </a:solidFill>
              </a:rPr>
              <a:t>The plot to the right shows</a:t>
            </a:r>
            <a:r>
              <a:rPr lang="en-GB" sz="1600" b="0" i="0" dirty="0">
                <a:solidFill>
                  <a:srgbClr val="FAFAFA"/>
                </a:solidFill>
                <a:effectLst/>
              </a:rPr>
              <a:t> the variance between actual solar generation and our model's predicted generation. We note predictions tend to track irradiance more closely than actual generation. Reasons for this may include:</a:t>
            </a:r>
          </a:p>
          <a:p>
            <a:pPr algn="l">
              <a:buNone/>
            </a:pPr>
            <a:endParaRPr lang="en-GB" sz="1600" b="0" i="0" dirty="0">
              <a:solidFill>
                <a:srgbClr val="FAFAFA"/>
              </a:solidFill>
              <a:effectLst/>
            </a:endParaRPr>
          </a:p>
          <a:p>
            <a:pPr algn="l">
              <a:buFont typeface="+mj-lt"/>
              <a:buAutoNum type="arabicPeriod"/>
            </a:pPr>
            <a:r>
              <a:rPr lang="en-GB" sz="1600" b="0" i="0" dirty="0">
                <a:solidFill>
                  <a:srgbClr val="FAFAFA"/>
                </a:solidFill>
                <a:effectLst/>
              </a:rPr>
              <a:t>predictions are based on a single location (and weather conditions) at the GSP, but the solar plants are scattered in multiple locations around the GSP, and;</a:t>
            </a:r>
          </a:p>
          <a:p>
            <a:pPr algn="l">
              <a:buFont typeface="+mj-lt"/>
              <a:buAutoNum type="arabicPeriod"/>
            </a:pPr>
            <a:endParaRPr lang="en-GB" sz="1600" b="0" i="0" dirty="0">
              <a:solidFill>
                <a:srgbClr val="FAFAFA"/>
              </a:solidFill>
              <a:effectLst/>
            </a:endParaRPr>
          </a:p>
          <a:p>
            <a:pPr algn="l">
              <a:buFont typeface="+mj-lt"/>
              <a:buAutoNum type="arabicPeriod"/>
            </a:pPr>
            <a:r>
              <a:rPr lang="en-GB" sz="1600" b="0" i="0" dirty="0">
                <a:solidFill>
                  <a:srgbClr val="FAFAFA"/>
                </a:solidFill>
                <a:effectLst/>
              </a:rPr>
              <a:t>generation may have been affected by other factors such as grid and/or localised plant faults.</a:t>
            </a:r>
          </a:p>
        </p:txBody>
      </p:sp>
    </p:spTree>
    <p:extLst>
      <p:ext uri="{BB962C8B-B14F-4D97-AF65-F5344CB8AC3E}">
        <p14:creationId xmlns:p14="http://schemas.microsoft.com/office/powerpoint/2010/main" val="2606001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13E96B0-4AA5-2D1E-2C03-126A8C54E944}"/>
              </a:ext>
            </a:extLst>
          </p:cNvPr>
          <p:cNvSpPr txBox="1">
            <a:spLocks/>
          </p:cNvSpPr>
          <p:nvPr/>
        </p:nvSpPr>
        <p:spPr>
          <a:xfrm>
            <a:off x="427705" y="365760"/>
            <a:ext cx="10261338" cy="69612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GB" dirty="0"/>
              <a:t>3.1 Case Study – Newton Stewart GSP</a:t>
            </a:r>
          </a:p>
        </p:txBody>
      </p:sp>
      <p:pic>
        <p:nvPicPr>
          <p:cNvPr id="5" name="Picture 4">
            <a:extLst>
              <a:ext uri="{FF2B5EF4-FFF2-40B4-BE49-F238E27FC236}">
                <a16:creationId xmlns:a16="http://schemas.microsoft.com/office/drawing/2014/main" id="{2078F0F2-F4BB-A2D1-B9DF-02EE2DBDA71E}"/>
              </a:ext>
            </a:extLst>
          </p:cNvPr>
          <p:cNvPicPr>
            <a:picLocks noChangeAspect="1"/>
          </p:cNvPicPr>
          <p:nvPr/>
        </p:nvPicPr>
        <p:blipFill>
          <a:blip r:embed="rId2"/>
          <a:stretch>
            <a:fillRect/>
          </a:stretch>
        </p:blipFill>
        <p:spPr>
          <a:xfrm>
            <a:off x="427705" y="1504336"/>
            <a:ext cx="6695628" cy="4544579"/>
          </a:xfrm>
          <a:prstGeom prst="rect">
            <a:avLst/>
          </a:prstGeom>
        </p:spPr>
      </p:pic>
      <p:sp>
        <p:nvSpPr>
          <p:cNvPr id="7" name="TextBox 6">
            <a:extLst>
              <a:ext uri="{FF2B5EF4-FFF2-40B4-BE49-F238E27FC236}">
                <a16:creationId xmlns:a16="http://schemas.microsoft.com/office/drawing/2014/main" id="{35F31D94-29B8-1958-5B07-FC4CF5D4818F}"/>
              </a:ext>
            </a:extLst>
          </p:cNvPr>
          <p:cNvSpPr txBox="1"/>
          <p:nvPr/>
        </p:nvSpPr>
        <p:spPr>
          <a:xfrm>
            <a:off x="7149428" y="1316193"/>
            <a:ext cx="3882365" cy="5078313"/>
          </a:xfrm>
          <a:prstGeom prst="rect">
            <a:avLst/>
          </a:prstGeom>
          <a:noFill/>
        </p:spPr>
        <p:txBody>
          <a:bodyPr wrap="square">
            <a:spAutoFit/>
          </a:bodyPr>
          <a:lstStyle/>
          <a:p>
            <a:pPr algn="l">
              <a:buNone/>
            </a:pPr>
            <a:r>
              <a:rPr lang="en-GB" b="1" i="0" dirty="0">
                <a:solidFill>
                  <a:srgbClr val="FAFAFA"/>
                </a:solidFill>
                <a:effectLst/>
              </a:rPr>
              <a:t>This plots highlights required adjustments to improve accuracy in the next iteration of the ML model:</a:t>
            </a:r>
          </a:p>
          <a:p>
            <a:pPr algn="l">
              <a:buNone/>
            </a:pPr>
            <a:endParaRPr lang="en-GB" b="0" i="0" dirty="0">
              <a:solidFill>
                <a:srgbClr val="FAFAFA"/>
              </a:solidFill>
              <a:effectLst/>
            </a:endParaRPr>
          </a:p>
          <a:p>
            <a:pPr algn="l">
              <a:buFont typeface="+mj-lt"/>
              <a:buAutoNum type="arabicPeriod"/>
            </a:pPr>
            <a:r>
              <a:rPr lang="en-GB" b="0" i="0" dirty="0">
                <a:solidFill>
                  <a:srgbClr val="FAFAFA"/>
                </a:solidFill>
                <a:effectLst/>
              </a:rPr>
              <a:t>The </a:t>
            </a:r>
            <a:r>
              <a:rPr lang="en-GB" b="0" i="0" dirty="0" err="1">
                <a:solidFill>
                  <a:srgbClr val="FAFAFA"/>
                </a:solidFill>
                <a:effectLst/>
              </a:rPr>
              <a:t>XGBoost</a:t>
            </a:r>
            <a:r>
              <a:rPr lang="en-GB" b="0" i="0" dirty="0">
                <a:solidFill>
                  <a:srgbClr val="FAFAFA"/>
                </a:solidFill>
                <a:effectLst/>
              </a:rPr>
              <a:t> ML model </a:t>
            </a:r>
            <a:r>
              <a:rPr lang="en-GB" b="0" i="0" dirty="0" err="1">
                <a:solidFill>
                  <a:srgbClr val="FAFAFA"/>
                </a:solidFill>
                <a:effectLst/>
              </a:rPr>
              <a:t>erronesouly</a:t>
            </a:r>
            <a:r>
              <a:rPr lang="en-GB" b="0" i="0" dirty="0">
                <a:solidFill>
                  <a:srgbClr val="FAFAFA"/>
                </a:solidFill>
                <a:effectLst/>
              </a:rPr>
              <a:t> predicts some small generation during hours of 0 irradiance, we will adjust to ensure 0 generation during these hours.</a:t>
            </a:r>
          </a:p>
          <a:p>
            <a:pPr algn="l">
              <a:buFont typeface="+mj-lt"/>
              <a:buAutoNum type="arabicPeriod"/>
            </a:pPr>
            <a:endParaRPr lang="en-GB" b="0" i="0" dirty="0">
              <a:solidFill>
                <a:srgbClr val="FAFAFA"/>
              </a:solidFill>
              <a:effectLst/>
            </a:endParaRPr>
          </a:p>
          <a:p>
            <a:pPr algn="l">
              <a:buFont typeface="+mj-lt"/>
              <a:buAutoNum type="arabicPeriod"/>
            </a:pPr>
            <a:r>
              <a:rPr lang="en-GB" b="0" i="0" dirty="0">
                <a:solidFill>
                  <a:srgbClr val="FAFAFA"/>
                </a:solidFill>
                <a:effectLst/>
              </a:rPr>
              <a:t>The interpolation method extends too far when imputing missing actual generation data, we will reduce the scope of the interpolation and impute remainder of </a:t>
            </a:r>
            <a:r>
              <a:rPr lang="en-GB" b="0" i="0" dirty="0" err="1">
                <a:solidFill>
                  <a:srgbClr val="FAFAFA"/>
                </a:solidFill>
                <a:effectLst/>
              </a:rPr>
              <a:t>NaNs</a:t>
            </a:r>
            <a:r>
              <a:rPr lang="en-GB" b="0" i="0" dirty="0">
                <a:solidFill>
                  <a:srgbClr val="FAFAFA"/>
                </a:solidFill>
                <a:effectLst/>
              </a:rPr>
              <a:t> with 0s.</a:t>
            </a:r>
          </a:p>
        </p:txBody>
      </p:sp>
    </p:spTree>
    <p:extLst>
      <p:ext uri="{BB962C8B-B14F-4D97-AF65-F5344CB8AC3E}">
        <p14:creationId xmlns:p14="http://schemas.microsoft.com/office/powerpoint/2010/main" val="1050031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882EA-15D6-5340-3992-04389F523F8A}"/>
              </a:ext>
            </a:extLst>
          </p:cNvPr>
          <p:cNvSpPr>
            <a:spLocks noGrp="1"/>
          </p:cNvSpPr>
          <p:nvPr>
            <p:ph type="title"/>
          </p:nvPr>
        </p:nvSpPr>
        <p:spPr>
          <a:xfrm>
            <a:off x="568698" y="1194619"/>
            <a:ext cx="9692640" cy="412955"/>
          </a:xfrm>
        </p:spPr>
        <p:txBody>
          <a:bodyPr>
            <a:normAutofit fontScale="90000"/>
          </a:bodyPr>
          <a:lstStyle/>
          <a:p>
            <a:r>
              <a:rPr lang="en-GB" dirty="0"/>
              <a:t>3.2 Case Study – Newton Stewart GSP</a:t>
            </a:r>
            <a:br>
              <a:rPr lang="en-GB" dirty="0"/>
            </a:br>
            <a:endParaRPr lang="en-GB" dirty="0"/>
          </a:p>
        </p:txBody>
      </p:sp>
      <p:pic>
        <p:nvPicPr>
          <p:cNvPr id="4" name="Picture 3">
            <a:extLst>
              <a:ext uri="{FF2B5EF4-FFF2-40B4-BE49-F238E27FC236}">
                <a16:creationId xmlns:a16="http://schemas.microsoft.com/office/drawing/2014/main" id="{4BF57BED-D76E-2A03-DF2A-6072666CE067}"/>
              </a:ext>
            </a:extLst>
          </p:cNvPr>
          <p:cNvPicPr>
            <a:picLocks noChangeAspect="1"/>
          </p:cNvPicPr>
          <p:nvPr/>
        </p:nvPicPr>
        <p:blipFill>
          <a:blip r:embed="rId2"/>
          <a:stretch>
            <a:fillRect/>
          </a:stretch>
        </p:blipFill>
        <p:spPr>
          <a:xfrm>
            <a:off x="137740" y="1607575"/>
            <a:ext cx="8007919" cy="4336026"/>
          </a:xfrm>
          <a:prstGeom prst="rect">
            <a:avLst/>
          </a:prstGeom>
        </p:spPr>
      </p:pic>
      <p:sp>
        <p:nvSpPr>
          <p:cNvPr id="5" name="TextBox 4">
            <a:extLst>
              <a:ext uri="{FF2B5EF4-FFF2-40B4-BE49-F238E27FC236}">
                <a16:creationId xmlns:a16="http://schemas.microsoft.com/office/drawing/2014/main" id="{2957B669-5095-0C37-DE8F-F387219BDBBA}"/>
              </a:ext>
            </a:extLst>
          </p:cNvPr>
          <p:cNvSpPr txBox="1"/>
          <p:nvPr/>
        </p:nvSpPr>
        <p:spPr>
          <a:xfrm>
            <a:off x="8432539" y="1607574"/>
            <a:ext cx="2746740" cy="4247317"/>
          </a:xfrm>
          <a:prstGeom prst="rect">
            <a:avLst/>
          </a:prstGeom>
          <a:noFill/>
        </p:spPr>
        <p:txBody>
          <a:bodyPr wrap="square">
            <a:spAutoFit/>
          </a:bodyPr>
          <a:lstStyle/>
          <a:p>
            <a:r>
              <a:rPr lang="en-GB" b="0" i="0" dirty="0">
                <a:solidFill>
                  <a:srgbClr val="FAFAFA"/>
                </a:solidFill>
                <a:effectLst/>
              </a:rPr>
              <a:t>Heatmap showing the difference between th</a:t>
            </a:r>
            <a:r>
              <a:rPr lang="en-GB" dirty="0">
                <a:solidFill>
                  <a:srgbClr val="FAFAFA"/>
                </a:solidFill>
              </a:rPr>
              <a:t>e actual solar generation vs. predicted over time :</a:t>
            </a:r>
            <a:br>
              <a:rPr lang="en-GB" dirty="0">
                <a:solidFill>
                  <a:srgbClr val="FAFAFA"/>
                </a:solidFill>
              </a:rPr>
            </a:br>
            <a:br>
              <a:rPr lang="en-GB" dirty="0">
                <a:solidFill>
                  <a:srgbClr val="FAFAFA"/>
                </a:solidFill>
              </a:rPr>
            </a:br>
            <a:r>
              <a:rPr lang="en-GB" dirty="0">
                <a:solidFill>
                  <a:srgbClr val="FAFAFA"/>
                </a:solidFill>
              </a:rPr>
              <a:t>The model becomes more inaccurate over time as solar capacity increases.</a:t>
            </a:r>
          </a:p>
          <a:p>
            <a:endParaRPr lang="en-GB" b="0" i="0" dirty="0">
              <a:solidFill>
                <a:srgbClr val="FAFAFA"/>
              </a:solidFill>
              <a:effectLst/>
            </a:endParaRPr>
          </a:p>
          <a:p>
            <a:r>
              <a:rPr lang="en-GB" b="1" dirty="0">
                <a:solidFill>
                  <a:srgbClr val="FAFAFA"/>
                </a:solidFill>
              </a:rPr>
              <a:t>Solution: </a:t>
            </a:r>
            <a:r>
              <a:rPr lang="en-GB" dirty="0">
                <a:solidFill>
                  <a:srgbClr val="FAFAFA"/>
                </a:solidFill>
              </a:rPr>
              <a:t>heavily</a:t>
            </a:r>
            <a:r>
              <a:rPr lang="en-GB" b="1" dirty="0">
                <a:solidFill>
                  <a:srgbClr val="FAFAFA"/>
                </a:solidFill>
              </a:rPr>
              <a:t> </a:t>
            </a:r>
            <a:r>
              <a:rPr lang="en-GB" dirty="0">
                <a:solidFill>
                  <a:srgbClr val="FAFAFA"/>
                </a:solidFill>
              </a:rPr>
              <a:t>weight the GSPs solar capacity feature in future fine-tuning of the ML model</a:t>
            </a:r>
            <a:endParaRPr lang="en-GB" b="0" i="0" dirty="0">
              <a:solidFill>
                <a:srgbClr val="FAFAFA"/>
              </a:solidFill>
              <a:effectLst/>
            </a:endParaRPr>
          </a:p>
        </p:txBody>
      </p:sp>
    </p:spTree>
    <p:extLst>
      <p:ext uri="{BB962C8B-B14F-4D97-AF65-F5344CB8AC3E}">
        <p14:creationId xmlns:p14="http://schemas.microsoft.com/office/powerpoint/2010/main" val="4257537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0B129-7B5A-66DE-EBDC-9211DE586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33C36-C856-74F4-3904-534855D85B0F}"/>
              </a:ext>
            </a:extLst>
          </p:cNvPr>
          <p:cNvSpPr>
            <a:spLocks noGrp="1"/>
          </p:cNvSpPr>
          <p:nvPr>
            <p:ph type="title"/>
          </p:nvPr>
        </p:nvSpPr>
        <p:spPr>
          <a:xfrm>
            <a:off x="579604" y="434797"/>
            <a:ext cx="9905998" cy="848139"/>
          </a:xfrm>
        </p:spPr>
        <p:txBody>
          <a:bodyPr anchor="b">
            <a:normAutofit/>
          </a:bodyPr>
          <a:lstStyle/>
          <a:p>
            <a:r>
              <a:rPr lang="en-GB" sz="2400" dirty="0"/>
              <a:t>4.0 Conclusion: further refinement is required to accurately support NESO’s BM actions</a:t>
            </a:r>
          </a:p>
        </p:txBody>
      </p:sp>
      <p:graphicFrame>
        <p:nvGraphicFramePr>
          <p:cNvPr id="5" name="Content Placeholder 4">
            <a:extLst>
              <a:ext uri="{FF2B5EF4-FFF2-40B4-BE49-F238E27FC236}">
                <a16:creationId xmlns:a16="http://schemas.microsoft.com/office/drawing/2014/main" id="{AF2C2859-F2A2-39CB-D97B-86B2815BEFCB}"/>
              </a:ext>
            </a:extLst>
          </p:cNvPr>
          <p:cNvGraphicFramePr>
            <a:graphicFrameLocks noGrp="1"/>
          </p:cNvGraphicFramePr>
          <p:nvPr>
            <p:ph idx="1"/>
            <p:extLst>
              <p:ext uri="{D42A27DB-BD31-4B8C-83A1-F6EECF244321}">
                <p14:modId xmlns:p14="http://schemas.microsoft.com/office/powerpoint/2010/main" val="648736787"/>
              </p:ext>
              <p:ext uri="{E7BDC344-281C-4309-B0C6-D0EE65EED2A8}">
                <p202:designPr xmlns:p202="http://schemas.microsoft.com/office/powerpoint/2020/02/main">
                  <p202:designTagLst>
                    <p202:designTag name="ARCH:1:CLS" val="InformationTable"/>
                  </p202:designTagLst>
                </p202:designPr>
              </p:ext>
            </p:extLst>
          </p:nvPr>
        </p:nvGraphicFramePr>
        <p:xfrm>
          <a:off x="579604" y="1631417"/>
          <a:ext cx="10466937" cy="1449102"/>
        </p:xfrm>
        <a:graphic>
          <a:graphicData uri="http://schemas.openxmlformats.org/drawingml/2006/table">
            <a:tbl>
              <a:tblPr bandRow="1">
                <a:noFill/>
                <a:tableStyleId>{5C22544A-7EE6-4342-B048-85BDC9FD1C3A}</a:tableStyleId>
              </a:tblPr>
              <a:tblGrid>
                <a:gridCol w="10466937">
                  <a:extLst>
                    <a:ext uri="{9D8B030D-6E8A-4147-A177-3AD203B41FA5}">
                      <a16:colId xmlns:a16="http://schemas.microsoft.com/office/drawing/2014/main" val="3444418601"/>
                    </a:ext>
                  </a:extLst>
                </a:gridCol>
              </a:tblGrid>
              <a:tr h="334540">
                <a:tc>
                  <a:txBody>
                    <a:bodyPr/>
                    <a:lstStyle/>
                    <a:p>
                      <a:pPr algn="ctr">
                        <a:buNone/>
                      </a:pPr>
                      <a:r>
                        <a:rPr lang="en-GB" sz="1400" b="1" cap="all" spc="150" dirty="0">
                          <a:solidFill>
                            <a:schemeClr val="tx1"/>
                          </a:solidFill>
                        </a:rPr>
                        <a:t>Data Cleaning</a:t>
                      </a:r>
                    </a:p>
                  </a:txBody>
                  <a:tcPr marL="134837" marR="134837" marT="134837" marB="134837"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947379730"/>
                  </a:ext>
                </a:extLst>
              </a:tr>
              <a:tr h="0">
                <a:tc>
                  <a:txBody>
                    <a:bodyPr/>
                    <a:lstStyle/>
                    <a:p>
                      <a:pPr algn="ctr">
                        <a:buNone/>
                      </a:pPr>
                      <a:r>
                        <a:rPr lang="en-GB" sz="1400" cap="none" spc="0" dirty="0">
                          <a:solidFill>
                            <a:schemeClr val="tx1"/>
                          </a:solidFill>
                        </a:rPr>
                        <a:t>Interpolate impute fewer missing solar generation values to avoid skewed generation profiles</a:t>
                      </a:r>
                    </a:p>
                  </a:txBody>
                  <a:tcPr marL="134837" marR="134837" marT="134837" marB="13483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652643011"/>
                  </a:ext>
                </a:extLst>
              </a:tr>
              <a:tr h="0">
                <a:tc>
                  <a:txBody>
                    <a:bodyPr/>
                    <a:lstStyle/>
                    <a:p>
                      <a:pPr algn="ctr">
                        <a:buNone/>
                      </a:pPr>
                      <a:r>
                        <a:rPr lang="en-GB" sz="1400" cap="none" spc="0" dirty="0">
                          <a:solidFill>
                            <a:schemeClr val="tx1"/>
                          </a:solidFill>
                        </a:rPr>
                        <a:t>Impute remaining </a:t>
                      </a:r>
                      <a:r>
                        <a:rPr lang="en-GB" sz="1400" cap="none" spc="0" dirty="0" err="1">
                          <a:solidFill>
                            <a:schemeClr val="tx1"/>
                          </a:solidFill>
                        </a:rPr>
                        <a:t>NaNs</a:t>
                      </a:r>
                      <a:r>
                        <a:rPr lang="en-GB" sz="1400" cap="none" spc="0" dirty="0">
                          <a:solidFill>
                            <a:schemeClr val="tx1"/>
                          </a:solidFill>
                        </a:rPr>
                        <a:t> in the generation data with zeros</a:t>
                      </a:r>
                    </a:p>
                  </a:txBody>
                  <a:tcPr marL="134837" marR="134837" marT="134837" marB="13483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925953791"/>
                  </a:ext>
                </a:extLst>
              </a:tr>
            </a:tbl>
          </a:graphicData>
        </a:graphic>
      </p:graphicFrame>
      <p:graphicFrame>
        <p:nvGraphicFramePr>
          <p:cNvPr id="4" name="Content Placeholder 4">
            <a:extLst>
              <a:ext uri="{FF2B5EF4-FFF2-40B4-BE49-F238E27FC236}">
                <a16:creationId xmlns:a16="http://schemas.microsoft.com/office/drawing/2014/main" id="{6B4DFC5C-6536-B5C7-D5E3-5BCA387BF08E}"/>
              </a:ext>
            </a:extLst>
          </p:cNvPr>
          <p:cNvGraphicFramePr>
            <a:graphicFrameLocks/>
          </p:cNvGraphicFramePr>
          <p:nvPr>
            <p:extLst>
              <p:ext uri="{D42A27DB-BD31-4B8C-83A1-F6EECF244321}">
                <p14:modId xmlns:p14="http://schemas.microsoft.com/office/powerpoint/2010/main" val="2972537657"/>
              </p:ext>
              <p:ext uri="{E7BDC344-281C-4309-B0C6-D0EE65EED2A8}">
                <p202:designPr xmlns:p202="http://schemas.microsoft.com/office/powerpoint/2020/02/main">
                  <p202:designTagLst>
                    <p202:designTag name="ARCH:1:CLS" val="InformationTable"/>
                  </p202:designTagLst>
                </p202:designPr>
              </p:ext>
            </p:extLst>
          </p:nvPr>
        </p:nvGraphicFramePr>
        <p:xfrm>
          <a:off x="579604" y="3429000"/>
          <a:ext cx="10466938" cy="2415170"/>
        </p:xfrm>
        <a:graphic>
          <a:graphicData uri="http://schemas.openxmlformats.org/drawingml/2006/table">
            <a:tbl>
              <a:tblPr bandRow="1">
                <a:noFill/>
                <a:tableStyleId>{5C22544A-7EE6-4342-B048-85BDC9FD1C3A}</a:tableStyleId>
              </a:tblPr>
              <a:tblGrid>
                <a:gridCol w="10466938">
                  <a:extLst>
                    <a:ext uri="{9D8B030D-6E8A-4147-A177-3AD203B41FA5}">
                      <a16:colId xmlns:a16="http://schemas.microsoft.com/office/drawing/2014/main" val="3444418601"/>
                    </a:ext>
                  </a:extLst>
                </a:gridCol>
              </a:tblGrid>
              <a:tr h="334540">
                <a:tc>
                  <a:txBody>
                    <a:bodyPr/>
                    <a:lstStyle/>
                    <a:p>
                      <a:pPr algn="ctr">
                        <a:buNone/>
                      </a:pPr>
                      <a:r>
                        <a:rPr lang="en-GB" sz="1400" b="1" cap="all" spc="150" dirty="0">
                          <a:solidFill>
                            <a:schemeClr val="tx1"/>
                          </a:solidFill>
                        </a:rPr>
                        <a:t>Model Refinement</a:t>
                      </a:r>
                    </a:p>
                  </a:txBody>
                  <a:tcPr marL="134837" marR="134837" marT="134837" marB="134837"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947379730"/>
                  </a:ext>
                </a:extLst>
              </a:tr>
              <a:tr h="0">
                <a:tc>
                  <a:txBody>
                    <a:bodyPr/>
                    <a:lstStyle/>
                    <a:p>
                      <a:pPr algn="ctr">
                        <a:buNone/>
                      </a:pPr>
                      <a:r>
                        <a:rPr lang="en-GB" sz="1400" cap="none" spc="0" dirty="0">
                          <a:solidFill>
                            <a:schemeClr val="tx1"/>
                          </a:solidFill>
                        </a:rPr>
                        <a:t>Tune and re-test the </a:t>
                      </a:r>
                      <a:r>
                        <a:rPr lang="en-GB" sz="1400" cap="none" spc="0" dirty="0" err="1">
                          <a:solidFill>
                            <a:schemeClr val="tx1"/>
                          </a:solidFill>
                        </a:rPr>
                        <a:t>XGBoost</a:t>
                      </a:r>
                      <a:r>
                        <a:rPr lang="en-GB" sz="1400" cap="none" spc="0" dirty="0">
                          <a:solidFill>
                            <a:schemeClr val="tx1"/>
                          </a:solidFill>
                        </a:rPr>
                        <a:t> ML model to more heavily weight capacity feature and account for increased MWp over time</a:t>
                      </a:r>
                    </a:p>
                  </a:txBody>
                  <a:tcPr marL="134837" marR="134837" marT="134837" marB="134837"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652643011"/>
                  </a:ext>
                </a:extLst>
              </a:tr>
              <a:tr h="0">
                <a:tc>
                  <a:txBody>
                    <a:bodyPr/>
                    <a:lstStyle/>
                    <a:p>
                      <a:pPr algn="ctr">
                        <a:buNone/>
                      </a:pPr>
                      <a:r>
                        <a:rPr lang="en-GB" sz="1400" cap="none" spc="0" dirty="0">
                          <a:solidFill>
                            <a:schemeClr val="tx1"/>
                          </a:solidFill>
                        </a:rPr>
                        <a:t>Retrain model to ensure predictions read zero generation during hours of zero irradiance</a:t>
                      </a:r>
                    </a:p>
                  </a:txBody>
                  <a:tcPr marL="134837" marR="134837" marT="134837" marB="13483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5953791"/>
                  </a:ext>
                </a:extLst>
              </a:tr>
              <a:tr h="0">
                <a:tc>
                  <a:txBody>
                    <a:bodyPr/>
                    <a:lstStyle/>
                    <a:p>
                      <a:pPr algn="ctr">
                        <a:buNone/>
                      </a:pPr>
                      <a:r>
                        <a:rPr lang="en-GB" sz="1400" cap="none" spc="0" dirty="0">
                          <a:solidFill>
                            <a:schemeClr val="tx1"/>
                          </a:solidFill>
                        </a:rPr>
                        <a:t>Incorporate other weather data parameters such as humidity, wind and temperature</a:t>
                      </a:r>
                    </a:p>
                  </a:txBody>
                  <a:tcPr marL="134837" marR="134837" marT="134837" marB="13483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439154"/>
                  </a:ext>
                </a:extLst>
              </a:tr>
              <a:tr h="0">
                <a:tc>
                  <a:txBody>
                    <a:bodyPr/>
                    <a:lstStyle/>
                    <a:p>
                      <a:pPr algn="ctr">
                        <a:buNone/>
                      </a:pPr>
                      <a:r>
                        <a:rPr lang="en-GB" sz="1400" cap="none" spc="0" dirty="0">
                          <a:solidFill>
                            <a:schemeClr val="tx1"/>
                          </a:solidFill>
                        </a:rPr>
                        <a:t>Reach out to the Sheffield Solar API team to understand if unique solar project locations can be sourced</a:t>
                      </a:r>
                    </a:p>
                  </a:txBody>
                  <a:tcPr marL="134837" marR="134837" marT="134837" marB="134837"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52017631"/>
                  </a:ext>
                </a:extLst>
              </a:tr>
            </a:tbl>
          </a:graphicData>
        </a:graphic>
      </p:graphicFrame>
    </p:spTree>
    <p:extLst>
      <p:ext uri="{BB962C8B-B14F-4D97-AF65-F5344CB8AC3E}">
        <p14:creationId xmlns:p14="http://schemas.microsoft.com/office/powerpoint/2010/main" val="2058105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457123F-05AC-44DA-AB68-7EEB5037B4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51489"/>
            <a:ext cx="11292840" cy="26065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914400" y="4624001"/>
            <a:ext cx="9777603" cy="1152524"/>
          </a:xfrm>
        </p:spPr>
        <p:txBody>
          <a:bodyPr>
            <a:normAutofit/>
          </a:bodyPr>
          <a:lstStyle/>
          <a:p>
            <a:r>
              <a:rPr lang="en-US" sz="4800"/>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914400" y="5747950"/>
            <a:ext cx="9777603" cy="594360"/>
          </a:xfrm>
        </p:spPr>
        <p:txBody>
          <a:bodyPr>
            <a:normAutofit/>
          </a:bodyPr>
          <a:lstStyle/>
          <a:p>
            <a:r>
              <a:rPr lang="en-US" sz="1400"/>
              <a:t>samhsforrest@gmail.com</a:t>
            </a:r>
          </a:p>
          <a:p>
            <a:endParaRPr lang="en-US" sz="1400"/>
          </a:p>
          <a:p>
            <a:endParaRPr lang="en-US" sz="1400"/>
          </a:p>
        </p:txBody>
      </p:sp>
      <p:pic>
        <p:nvPicPr>
          <p:cNvPr id="6" name="Picture 5">
            <a:extLst>
              <a:ext uri="{FF2B5EF4-FFF2-40B4-BE49-F238E27FC236}">
                <a16:creationId xmlns:a16="http://schemas.microsoft.com/office/drawing/2014/main" id="{89F1097C-BED5-14BC-A574-D3B1BB6A5FEF}"/>
              </a:ext>
            </a:extLst>
          </p:cNvPr>
          <p:cNvPicPr>
            <a:picLocks noChangeAspect="1"/>
          </p:cNvPicPr>
          <p:nvPr/>
        </p:nvPicPr>
        <p:blipFill>
          <a:blip r:embed="rId3"/>
          <a:srcRect b="43599"/>
          <a:stretch>
            <a:fillRect/>
          </a:stretch>
        </p:blipFill>
        <p:spPr>
          <a:xfrm>
            <a:off x="20" y="10"/>
            <a:ext cx="11292820" cy="4251479"/>
          </a:xfrm>
          <a:prstGeom prst="rect">
            <a:avLst/>
          </a:prstGeom>
        </p:spPr>
      </p:pic>
    </p:spTree>
    <p:extLst>
      <p:ext uri="{BB962C8B-B14F-4D97-AF65-F5344CB8AC3E}">
        <p14:creationId xmlns:p14="http://schemas.microsoft.com/office/powerpoint/2010/main" val="3501347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View">
  <a:themeElements>
    <a:clrScheme name="View">
      <a:dk1>
        <a:sysClr val="windowText" lastClr="000000"/>
      </a:dk1>
      <a:lt1>
        <a:sysClr val="window" lastClr="FFFFFF"/>
      </a:lt1>
      <a:dk2>
        <a:srgbClr val="564B3C"/>
      </a:dk2>
      <a:lt2>
        <a:srgbClr val="ECEDD1"/>
      </a:lt2>
      <a:accent1>
        <a:srgbClr val="93A299"/>
      </a:accent1>
      <a:accent2>
        <a:srgbClr val="CB4B30"/>
      </a:accent2>
      <a:accent3>
        <a:srgbClr val="B5AE53"/>
      </a:accent3>
      <a:accent4>
        <a:srgbClr val="6F6A7A"/>
      </a:accent4>
      <a:accent5>
        <a:srgbClr val="E8B54D"/>
      </a:accent5>
      <a:accent6>
        <a:srgbClr val="8A7952"/>
      </a:accent6>
      <a:hlink>
        <a:srgbClr val="9F9F0B"/>
      </a:hlink>
      <a:folHlink>
        <a:srgbClr val="B2B2B2"/>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3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866257B-E5CE-4C43-9210-F2DE76BE10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42D3C2F-55A5-48C0-9D5A-95C7FF0389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TM03457515[[fn=View]]</Template>
  <TotalTime>5011</TotalTime>
  <Words>1350</Words>
  <Application>Microsoft Office PowerPoint</Application>
  <PresentationFormat>Widescreen</PresentationFormat>
  <Paragraphs>105</Paragraphs>
  <Slides>16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Century Schoolbook</vt:lpstr>
      <vt:lpstr>Wingdings 2</vt:lpstr>
      <vt:lpstr>View</vt:lpstr>
      <vt:lpstr>UK Embedded Solar Generation</vt:lpstr>
      <vt:lpstr>Presentation Overview</vt:lpstr>
      <vt:lpstr>1.0 The National Energy System Operator (NESO)</vt:lpstr>
      <vt:lpstr>1.2 The Balancing Mechnism (BM)</vt:lpstr>
      <vt:lpstr>1.3 Electricity  Distribution Networks</vt:lpstr>
      <vt:lpstr>1.4 GSP Embedded Solar Capacity</vt:lpstr>
      <vt:lpstr>1.5 GSP Embedded Solar Capacity</vt:lpstr>
      <vt:lpstr>1.6 Grid Supply Points (GSPs)</vt:lpstr>
      <vt:lpstr>The Question:</vt:lpstr>
      <vt:lpstr>2.0 The Dashboard</vt:lpstr>
      <vt:lpstr>2.1 Data Flow</vt:lpstr>
      <vt:lpstr>3.0 Case Study – Newton Stewart GSP</vt:lpstr>
      <vt:lpstr>PowerPoint Presentation</vt:lpstr>
      <vt:lpstr>3.2 Case Study – Newton Stewart GSP </vt:lpstr>
      <vt:lpstr>4.0 Conclusion: further refinement is required to accurately support NESO’s BM actions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 Forrest</dc:creator>
  <cp:lastModifiedBy>Sam Forrest</cp:lastModifiedBy>
  <cp:revision>7</cp:revision>
  <dcterms:created xsi:type="dcterms:W3CDTF">2026-01-22T10:35:34Z</dcterms:created>
  <dcterms:modified xsi:type="dcterms:W3CDTF">2026-01-25T22:16:49Z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